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ajQXjZ57XSDjAuXjb9kggBsD9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4" name="Google Shape;51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4" name="Google Shape;71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7" name="Google Shape;74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6734" y="0"/>
            <a:ext cx="109728" cy="68580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7472" y="169164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with Real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 Data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47472" y="2944368"/>
            <a:ext cx="7315200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47472" y="3035808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APIs, Data Quality, and Reproducible Data Pipelines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1"/>
          <p:cNvGrpSpPr/>
          <p:nvPr/>
        </p:nvGrpSpPr>
        <p:grpSpPr>
          <a:xfrm>
            <a:off x="310896" y="5654361"/>
            <a:ext cx="1645920" cy="347472"/>
            <a:chOff x="1417320" y="4233672"/>
            <a:chExt cx="1645920" cy="347472"/>
          </a:xfrm>
        </p:grpSpPr>
        <p:sp>
          <p:nvSpPr>
            <p:cNvPr id="18" name="Google Shape;18;p1"/>
            <p:cNvSpPr/>
            <p:nvPr/>
          </p:nvSpPr>
          <p:spPr>
            <a:xfrm>
              <a:off x="1417320" y="4233672"/>
              <a:ext cx="1645920" cy="347472"/>
            </a:xfrm>
            <a:prstGeom prst="roundRect">
              <a:avLst>
                <a:gd fmla="val 15789" name="adj"/>
              </a:avLst>
            </a:prstGeom>
            <a:solidFill>
              <a:srgbClr val="C9A84C"/>
            </a:solidFill>
            <a:ln cap="flat" cmpd="sng" w="12700">
              <a:solidFill>
                <a:srgbClr val="C9A8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417320" y="4233672"/>
              <a:ext cx="1645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F1B4C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0F1B4C"/>
                  </a:solidFill>
                  <a:latin typeface="Calibri"/>
                  <a:ea typeface="Calibri"/>
                  <a:cs typeface="Calibri"/>
                  <a:sym typeface="Calibri"/>
                </a:rPr>
                <a:t>WEEK 5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1"/>
          <p:cNvSpPr/>
          <p:nvPr/>
        </p:nvSpPr>
        <p:spPr>
          <a:xfrm>
            <a:off x="347472" y="4504383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Presenter : Terri-Ann Grant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Science Graduate Specialist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Contact: terrianngrant@scarletmail.rutgers.edu  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94360" y="356616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APPLIED DATA SCIENCE WORKSHOP SERIES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-5454" y="6571262"/>
            <a:ext cx="12197454" cy="322015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1746" y="657323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Graduate Data Scientist  |  Applied Data Science Workshop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756648" y="-778462"/>
            <a:ext cx="3200400" cy="32004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213848" y="-275542"/>
            <a:ext cx="2194560" cy="21945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By the end of this workshop, participants will be able to: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7472" y="1298448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47472" y="1298448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380744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1380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50976" y="12984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Explain what an API is and how it works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7472" y="1883664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7472" y="1883664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50976" y="1883664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Retrieve data from a public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7472" y="2468880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47472" y="2468880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2551176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25511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50976" y="24688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Convert JSON data into a usable dataset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7472" y="3054096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47472" y="3054096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3136392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31363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DQ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50976" y="3054096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Identify common data quality issues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47472" y="3639312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47472" y="3639312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3721608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37216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50976" y="3639312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Remove aggregate records from datasets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47472" y="4224528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47472" y="4224528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4306824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" y="43068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50976" y="422452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Validate datasets before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47472" y="4809744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7472" y="4809744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4892040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7200" y="4892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950976" y="4809744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Create basic exploratory visualizations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47472" y="5394960"/>
            <a:ext cx="1149400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47472" y="5394960"/>
            <a:ext cx="50292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57200" y="5477256"/>
            <a:ext cx="384048" cy="38404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57200" y="5477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50976" y="539496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Document a reproducible workflow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Public Data Matters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Open data drives better decisions across every sector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47472" y="1298448"/>
            <a:ext cx="566928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47472" y="1298448"/>
            <a:ext cx="50292" cy="39319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1389888"/>
            <a:ext cx="5449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PUBLIC DATA POWERS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5488" y="1609344"/>
            <a:ext cx="5413248" cy="705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841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50"/>
              <a:buFont typeface="Noto Sans Symbols"/>
              <a:buChar char="⮚"/>
            </a:pPr>
            <a:r>
              <a:rPr lang="en-US" sz="13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Government decision making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5488" y="2315261"/>
            <a:ext cx="5413248" cy="705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841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50"/>
              <a:buFont typeface="Noto Sans Symbols"/>
              <a:buChar char="⮚"/>
            </a:pPr>
            <a:r>
              <a:rPr lang="en-US" sz="11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3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Economic analysis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75488" y="3021178"/>
            <a:ext cx="5413248" cy="705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841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50"/>
              <a:buFont typeface="Noto Sans Symbols"/>
              <a:buChar char="⮚"/>
            </a:pPr>
            <a:r>
              <a:rPr lang="en-US" sz="13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Public health research</a:t>
            </a:r>
            <a:endParaRPr sz="1150">
              <a:solidFill>
                <a:srgbClr val="1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75488" y="3727094"/>
            <a:ext cx="5413248" cy="705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841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50"/>
              <a:buFont typeface="Noto Sans Symbols"/>
              <a:buChar char="⮚"/>
            </a:pPr>
            <a:r>
              <a:rPr lang="en-US" sz="13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Infrastructure planning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75488" y="4433011"/>
            <a:ext cx="5413248" cy="705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Noto Sans Symbols"/>
              <a:buChar char="⮚"/>
            </a:pPr>
            <a:r>
              <a:rPr lang="en-US" sz="13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Environmental monitoring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172200" y="1298448"/>
            <a:ext cx="566928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72200" y="1298448"/>
            <a:ext cx="50292" cy="39319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300216" y="1389888"/>
            <a:ext cx="5431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COMMON SOURCES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309360" y="1700784"/>
            <a:ext cx="475488" cy="47548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09360" y="17007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876288" y="171907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World Bank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876288" y="193852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Development indicators for 200+ countries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309360" y="2505456"/>
            <a:ext cx="475488" cy="47548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309360" y="25054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876288" y="252374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U.S. Census Bureau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76288" y="274320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Population, housing, and economic data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309360" y="3310128"/>
            <a:ext cx="475488" cy="47548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309360" y="33101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876288" y="332841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World Health Organization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876288" y="354787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Global health statistics and indicators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309360" y="4114800"/>
            <a:ext cx="475488" cy="47548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309360" y="4114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876288" y="413308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OpenStreetMap Foundation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876288" y="435254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Open geographic and infrastructure data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an API?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Application Programming 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47472" y="1298448"/>
            <a:ext cx="11494008" cy="100584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47472" y="1298448"/>
            <a:ext cx="11494008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47472" y="1298448"/>
            <a:ext cx="114940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=  Application Programming Interface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47472" y="2432304"/>
            <a:ext cx="11494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An API allows one system to request information from another — like a waiter taking your order to the kitchen and bringing back the meal.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47472" y="3017520"/>
            <a:ext cx="5394960" cy="30485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47472" y="3017520"/>
            <a:ext cx="50292" cy="23774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75488" y="3108960"/>
            <a:ext cx="5157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INSTEAD OF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5488" y="3401568"/>
            <a:ext cx="515721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Downloading CSV files manually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from a website each time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is updated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096000" y="3017520"/>
            <a:ext cx="5471160" cy="304854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72200" y="3017520"/>
            <a:ext cx="45719" cy="30485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300216" y="3108960"/>
            <a:ext cx="5157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WE CAN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300216" y="3401568"/>
            <a:ext cx="515721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Retrieve live, up-to-date data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programmatically — </a:t>
            </a:r>
            <a:endParaRPr b="1" sz="1300">
              <a:solidFill>
                <a:srgbClr val="1A25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 one line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of code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870" y="3063431"/>
            <a:ext cx="2588128" cy="300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18571" l="3831" r="3193" t="36165"/>
          <a:stretch/>
        </p:blipFill>
        <p:spPr>
          <a:xfrm>
            <a:off x="6302501" y="4615241"/>
            <a:ext cx="5180076" cy="1306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Workflow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From request to insight — the full pipeline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47472" y="1316736"/>
            <a:ext cx="3438144" cy="2743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47472" y="1316736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931920" y="1316736"/>
            <a:ext cx="5157216" cy="27432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931920" y="1316736"/>
            <a:ext cx="5157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235440" y="1316736"/>
            <a:ext cx="2651760" cy="274320"/>
          </a:xfrm>
          <a:prstGeom prst="rect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235440" y="131673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56993" y="1737360"/>
            <a:ext cx="822960" cy="8229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56993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56993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598241" y="2139696"/>
            <a:ext cx="782465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234402" y="204825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47472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7472" y="2688336"/>
            <a:ext cx="1587137" cy="457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20624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Send a URL request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to the World Bank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API endpoint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398994" y="1737360"/>
            <a:ext cx="822960" cy="82296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2398994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398994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40242" y="2139696"/>
            <a:ext cx="782465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876403" y="204825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989473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989473" y="2688336"/>
            <a:ext cx="1587137" cy="457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062625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Receive structured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JSON data back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from the server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040995" y="1737360"/>
            <a:ext cx="822960" cy="8229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040995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040995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882243" y="2139696"/>
            <a:ext cx="782465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518404" y="204825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631474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631474" y="2688336"/>
            <a:ext cx="1587137" cy="4572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704626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Parse JSON into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 Pandas table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for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682996" y="1737360"/>
            <a:ext cx="822960" cy="8229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682996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682996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524244" y="2139696"/>
            <a:ext cx="782465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160405" y="204825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273475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273475" y="2688336"/>
            <a:ext cx="1587137" cy="4572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346627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Handle missing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values and fix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324997" y="1737360"/>
            <a:ext cx="822960" cy="8229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324997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324997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8166245" y="2139696"/>
            <a:ext cx="782465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802406" y="204825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915477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915477" y="2688336"/>
            <a:ext cx="1587137" cy="4572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988629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Run checks: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counts, types,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aggregates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966998" y="1737360"/>
            <a:ext cx="822960" cy="822960"/>
          </a:xfrm>
          <a:prstGeom prst="ellipse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966998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966998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9808246" y="2139696"/>
            <a:ext cx="782465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0444407" y="2048256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557478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557478" y="2688336"/>
            <a:ext cx="1587137" cy="45720"/>
          </a:xfrm>
          <a:prstGeom prst="rect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630630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Summarise,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group, and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compare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0608999" y="1737360"/>
            <a:ext cx="822960" cy="822960"/>
          </a:xfrm>
          <a:prstGeom prst="ellipse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0608999" y="17373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0608999" y="2099462"/>
            <a:ext cx="822960" cy="46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0199479" y="2688336"/>
            <a:ext cx="1587137" cy="19202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0199479" y="2688336"/>
            <a:ext cx="1587137" cy="45720"/>
          </a:xfrm>
          <a:prstGeom prst="rect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0272631" y="2816352"/>
            <a:ext cx="1440833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Create charts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that reveal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patterns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47472" y="4718304"/>
            <a:ext cx="11494008" cy="64008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47472" y="4718304"/>
            <a:ext cx="11494008" cy="457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75488" y="4754880"/>
            <a:ext cx="112745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Key Point: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analysis begins before visualization — every step in the pipeline prepares the next. Skipping steps leads to unreliable results.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Workshop Case Study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Digital infrastructure and broadband access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47472" y="1298448"/>
            <a:ext cx="7132320" cy="4846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47472" y="1298448"/>
            <a:ext cx="50292" cy="48463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75488" y="1426464"/>
            <a:ext cx="6894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WORLD BANK INDICATOR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75488" y="1700784"/>
            <a:ext cx="68945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Fixed Broadband Subscriptions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per 100 People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75488" y="2505456"/>
            <a:ext cx="6894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Indicator Code: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75488" y="2798064"/>
            <a:ext cx="3657600" cy="475488"/>
          </a:xfrm>
          <a:prstGeom prst="rect">
            <a:avLst/>
          </a:prstGeom>
          <a:solidFill>
            <a:srgbClr val="0F1B4C"/>
          </a:solidFill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40080" y="2889504"/>
            <a:ext cx="3328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IT.NET.BBND.P2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75488" y="3364992"/>
            <a:ext cx="68945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Data source: World Bank Open Data API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Coverage: 200+ countries · Yearly records · 1990–present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7635240" y="1298448"/>
            <a:ext cx="4663440" cy="484632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7635240" y="1298448"/>
            <a:ext cx="4663440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7635240" y="1463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635240" y="237744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does broadband access vary across countries?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7635240" y="374904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And does it relate to income level?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75488" y="4133088"/>
            <a:ext cx="68945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We will use this dataset throughout the entire workshop.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JSON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JavaScript Object Notation — the language APIs speak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47472" y="1389888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EXAMPLE STRUCTURE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47472" y="1682496"/>
            <a:ext cx="5669280" cy="2011680"/>
          </a:xfrm>
          <a:prstGeom prst="rect">
            <a:avLst/>
          </a:prstGeom>
          <a:solidFill>
            <a:srgbClr val="0F1B4C"/>
          </a:solidFill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12064" y="1773936"/>
            <a:ext cx="534009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  "country": "Jamaica",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  "year": 2023,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  "value": 15.2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172200" y="1389888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JSON CONCEPTS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172200" y="1682496"/>
            <a:ext cx="56692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172200" y="1682496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309360" y="1737360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F7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A3F7E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309360" y="1956816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 label that identifies the data  (e.g. "country")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172200" y="2359152"/>
            <a:ext cx="56692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172200" y="2359152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309360" y="241401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F7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A3F7E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309360" y="2633472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The actual data point  (e.g. "Jamaica")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172200" y="3035808"/>
            <a:ext cx="56692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172200" y="3035808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309360" y="309067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F7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A3F7E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309360" y="3310128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 set of key-value pairs enclosed in {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172200" y="3712464"/>
            <a:ext cx="56692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172200" y="3712464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309360" y="37673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F7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A3F7E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09360" y="3986784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A collection of objects enclosed in [ 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47472" y="4535424"/>
            <a:ext cx="11494008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75488" y="4572000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 this workshop, API responses come as JSON. We convert them to a Pandas DataFrame (a table ) so we can filter, sort, and analyze the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Converting JSON to DataFrames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Turning API responses into structured data for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47472" y="1298448"/>
            <a:ext cx="566928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47472" y="1298448"/>
            <a:ext cx="50292" cy="43891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75488" y="1426464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WHY USE DATAFRAMES?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75488" y="1719072"/>
            <a:ext cx="5431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They allow structured, reproducible data operations: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950976" y="21031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950976" y="2340864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Select rows that meet a condition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75488" y="2944368"/>
            <a:ext cx="365760" cy="3657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75488" y="2944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950976" y="292608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950976" y="3163824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Group and aggregate values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75488" y="3767328"/>
            <a:ext cx="365760" cy="3657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75488" y="37673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950976" y="374904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50976" y="3986784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Pass directly to plotting libraries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75488" y="4590288"/>
            <a:ext cx="365760" cy="36576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75488" y="4590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950976" y="457200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950976" y="4809744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Mean, median, correlation, and more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172200" y="1298448"/>
            <a:ext cx="5669280" cy="438912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172200" y="1298448"/>
            <a:ext cx="5669280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172200" y="146304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355080" y="1883664"/>
            <a:ext cx="5303520" cy="512064"/>
          </a:xfrm>
          <a:prstGeom prst="rect">
            <a:avLst/>
          </a:prstGeom>
          <a:solidFill>
            <a:srgbClr val="2A3F7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355080" y="1883664"/>
            <a:ext cx="5303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Call the World Bank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355080" y="2560320"/>
            <a:ext cx="5303520" cy="512064"/>
          </a:xfrm>
          <a:prstGeom prst="rect">
            <a:avLst/>
          </a:prstGeom>
          <a:solidFill>
            <a:srgbClr val="2A3F7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355080" y="2560320"/>
            <a:ext cx="5303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Receive JSON response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355080" y="3236976"/>
            <a:ext cx="5303520" cy="512064"/>
          </a:xfrm>
          <a:prstGeom prst="rect">
            <a:avLst/>
          </a:prstGeom>
          <a:solidFill>
            <a:srgbClr val="2A3F7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355080" y="3236976"/>
            <a:ext cx="5303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Parse nested JSON structure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355080" y="3913632"/>
            <a:ext cx="5303520" cy="512064"/>
          </a:xfrm>
          <a:prstGeom prst="rect">
            <a:avLst/>
          </a:prstGeom>
          <a:solidFill>
            <a:srgbClr val="2A3F7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355080" y="3913632"/>
            <a:ext cx="5303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pd.DataFrame(records)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355080" y="4590288"/>
            <a:ext cx="5303520" cy="512064"/>
          </a:xfrm>
          <a:prstGeom prst="rect">
            <a:avLst/>
          </a:prstGeom>
          <a:solidFill>
            <a:srgbClr val="2A3F7E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355080" y="4590288"/>
            <a:ext cx="5303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Inspect with .head() and .info()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World Data Problems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Public data is rarely ready to analyse straight from the source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47472" y="1298448"/>
            <a:ext cx="54864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47472" y="1298448"/>
            <a:ext cx="50292" cy="12435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38912" y="171907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38912" y="17190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950976" y="1463040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950976" y="173736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Gaps where no measurement was recorded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355080" y="1298448"/>
            <a:ext cx="54864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355080" y="1298448"/>
            <a:ext cx="50292" cy="12435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446520" y="171907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446520" y="17190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958584" y="1463040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Incorrect data types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958584" y="173736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Numbers stored as strings, dates as objects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47472" y="2670048"/>
            <a:ext cx="54864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47472" y="2670048"/>
            <a:ext cx="50292" cy="12435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38912" y="309067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38912" y="30906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950976" y="2834640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50976" y="310896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The same record appearing more than once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355080" y="2670048"/>
            <a:ext cx="54864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355080" y="2670048"/>
            <a:ext cx="50292" cy="12435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446520" y="309067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446520" y="30906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958584" y="2834640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958584" y="310896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Extreme values that skew 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47472" y="4041648"/>
            <a:ext cx="54864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47472" y="4041648"/>
            <a:ext cx="50292" cy="12435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38912" y="446227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38912" y="44622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950976" y="4206240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Placeholder codes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950976" y="448056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Values like -99 or 'N/A' disguised as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355080" y="4041648"/>
            <a:ext cx="54864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355080" y="4041648"/>
            <a:ext cx="50292" cy="12435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446520" y="446227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446520" y="44622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958584" y="4206240"/>
            <a:ext cx="47731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Aggregate records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958584" y="448056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Regional or global totals mixed with country rows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47472" y="5193792"/>
            <a:ext cx="11494008" cy="621792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347472" y="5193792"/>
            <a:ext cx="11494008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347472" y="5193792"/>
            <a:ext cx="11494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Can we trust every row?  →  Not until we check.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Hidden Problem: Aggregates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World Bank API mixes countries with regional and global totals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47472" y="1353312"/>
            <a:ext cx="11494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The World Bank API includes these non-country records alongside real country data: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31520" y="1792224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31520" y="1792224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41248" y="1792224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World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647688" y="1792224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6647688" y="1792224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757416" y="1792224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High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731520" y="2487168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31520" y="2487168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841248" y="2487168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Low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647688" y="2487168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6647688" y="2487168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757416" y="2487168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Middle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731520" y="3182112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31520" y="3182112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841248" y="3182112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Europe &amp; Central Asia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647688" y="3182112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647688" y="3182112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757416" y="3182112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Latin America &amp; Caribbean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731520" y="3877056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731520" y="3877056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841248" y="3877056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Sub-Saharan Africa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6647688" y="3877056"/>
            <a:ext cx="5394960" cy="60350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647688" y="3877056"/>
            <a:ext cx="50292" cy="60350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757416" y="3877056"/>
            <a:ext cx="5175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South Asia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347472" y="5193792"/>
            <a:ext cx="11494008" cy="6217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47472" y="5193792"/>
            <a:ext cx="11494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These are NOT countries.  Leaving them in will distort any analysis.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Aggregates Are Dangerous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single bad row can invalidate an entire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347472" y="1298448"/>
            <a:ext cx="694944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347472" y="1298448"/>
            <a:ext cx="50292" cy="42062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475488" y="1426464"/>
            <a:ext cx="6711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75488" y="1700784"/>
            <a:ext cx="67116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Suppose we calculate: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Average broadband access across all rows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75488" y="2432304"/>
            <a:ext cx="6711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If World is included as a row: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475488" y="2798064"/>
            <a:ext cx="6711696" cy="438912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585216" y="279806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Jamaica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3785616" y="2798064"/>
            <a:ext cx="3401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15.2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475488" y="3310128"/>
            <a:ext cx="6711696" cy="438912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585216" y="331012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Canada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3785616" y="3310128"/>
            <a:ext cx="3401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43.1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75488" y="3822192"/>
            <a:ext cx="6711696" cy="438912"/>
          </a:xfrm>
          <a:prstGeom prst="rect">
            <a:avLst/>
          </a:prstGeom>
          <a:solidFill>
            <a:srgbClr val="FFF0E0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85216" y="382219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"World"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785616" y="3822192"/>
            <a:ext cx="3401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00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C05000"/>
                </a:solidFill>
                <a:latin typeface="Calibri"/>
                <a:ea typeface="Calibri"/>
                <a:cs typeface="Calibri"/>
                <a:sym typeface="Calibri"/>
              </a:rPr>
              <a:t>17.8  ← distorts mean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7452360" y="1298448"/>
            <a:ext cx="4389120" cy="420624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7452360" y="1298448"/>
            <a:ext cx="4389120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7452360" y="14630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THE RULE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7452360" y="2377440"/>
            <a:ext cx="4389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Always verify what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row represents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you calculate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anything.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7452360" y="429768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 misunderstood row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can make the whole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analysis wrong.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347472" y="5596128"/>
            <a:ext cx="11494008" cy="621792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47472" y="5596128"/>
            <a:ext cx="11494008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347472" y="5596128"/>
            <a:ext cx="114940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Rule: Always verify what each row represents.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 to the Rescue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Use the World Bank's own metadata to identify non-country records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347472" y="1298448"/>
            <a:ext cx="566928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347472" y="1298448"/>
            <a:ext cx="50292" cy="43891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75488" y="1426464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WORLD BANK COUNTRY METADATA CONTAINS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475488" y="1737360"/>
            <a:ext cx="5431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Country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475488" y="1975104"/>
            <a:ext cx="5431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2- or 3-letter ISO identifier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75488" y="2432304"/>
            <a:ext cx="5431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Country Name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475488" y="2670048"/>
            <a:ext cx="5431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Full display name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475488" y="3127248"/>
            <a:ext cx="5431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75488" y="3364992"/>
            <a:ext cx="5431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Geographic region — or 'Aggregates'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475488" y="3822192"/>
            <a:ext cx="5431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Income Group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75488" y="4059936"/>
            <a:ext cx="5431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High / Middle / Low income classification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475488" y="4517136"/>
            <a:ext cx="5431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Lending 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75488" y="4754880"/>
            <a:ext cx="5431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IDA, IBRD, or Not classified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172200" y="1298448"/>
            <a:ext cx="5669280" cy="438912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6172200" y="1298448"/>
            <a:ext cx="5669280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6172200" y="146304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THE KEY FIELD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6172200" y="2194560"/>
            <a:ext cx="5669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When the Region field equals: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6400800" y="2596896"/>
            <a:ext cx="5212080" cy="512064"/>
          </a:xfrm>
          <a:prstGeom prst="rect">
            <a:avLst/>
          </a:prstGeom>
          <a:solidFill>
            <a:srgbClr val="0F1B4C"/>
          </a:solidFill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565392" y="2688336"/>
            <a:ext cx="4882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Region == "Aggregates"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172200" y="3218688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…the row is NOT a country.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can filter these out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any analysis begins.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172200" y="466344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This single field is the most reliable way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to identify non-country rows in the dataset.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Validation Workflow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repeatable process for every new dataset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694944" y="1709928"/>
            <a:ext cx="36576" cy="38404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969264" y="1389888"/>
            <a:ext cx="859536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969264" y="1389888"/>
            <a:ext cx="50292" cy="6400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93776" y="1508760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493776" y="15087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1115568" y="144475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Retrieve Data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1115568" y="170078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Call the World Bank API and load the raw JSON response into Python.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6583680" y="1499616"/>
            <a:ext cx="2834640" cy="402336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6583680" y="1499616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requests.get(url).json()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621792" y="2029968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969264" y="2157984"/>
            <a:ext cx="859536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969264" y="2157984"/>
            <a:ext cx="50292" cy="64008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93776" y="2276856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493776" y="22768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1115568" y="2212848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Inspect Structure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1115568" y="24688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Understand the shape of your data before touching anything.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6583680" y="2267712"/>
            <a:ext cx="2834640" cy="402336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6583680" y="2267712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df.head()  |  df.info()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621792" y="2798064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969264" y="2926080"/>
            <a:ext cx="859536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969264" y="2926080"/>
            <a:ext cx="50292" cy="64008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93776" y="304495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93776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1115568" y="298094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Check Missing Values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1115568" y="3236976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Count nulls per column — decide whether to drop, impute, or flag.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6583680" y="3035808"/>
            <a:ext cx="2834640" cy="402336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583680" y="3035808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df.isnull().sum()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621792" y="3566160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969264" y="3694176"/>
            <a:ext cx="859536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969264" y="3694176"/>
            <a:ext cx="50292" cy="64008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93776" y="3813048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93776" y="38130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1115568" y="374904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Remove Aggregates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1115568" y="400507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Filter out rows where Region == 'Aggregates' using the metadata join.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583680" y="3803904"/>
            <a:ext cx="2834640" cy="402336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6583680" y="3803904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df[df.region != 'Aggregates']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621792" y="4334256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969264" y="4462272"/>
            <a:ext cx="859536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969264" y="4462272"/>
            <a:ext cx="50292" cy="64008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493776" y="4581144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493776" y="45811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1115568" y="451713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Validate Counts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1115568" y="4773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Confirm expected number of countries, years, and total rows.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6583680" y="4572000"/>
            <a:ext cx="2834640" cy="402336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6583680" y="4572000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df.nunique()  |  df.shape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621792" y="5102352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969264" y="5230368"/>
            <a:ext cx="859536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969264" y="5230368"/>
            <a:ext cx="50292" cy="640080"/>
          </a:xfrm>
          <a:prstGeom prst="rect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493776" y="5349240"/>
            <a:ext cx="402336" cy="402336"/>
          </a:xfrm>
          <a:prstGeom prst="ellipse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93776" y="53492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1115568" y="528523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1115568" y="554126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Proceed with a clean, validated dataset — every result is now trustworthy.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6583680" y="5340096"/>
            <a:ext cx="2834640" cy="402336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6583680" y="5340096"/>
            <a:ext cx="2834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Ready to analyse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347472" y="6327648"/>
            <a:ext cx="11494008" cy="420624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75488" y="6327648"/>
            <a:ext cx="112745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Treat this as a checklist — run it on every new dataset before drawing any conclusions.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4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Checks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Five questions to ask before any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347472" y="1353312"/>
            <a:ext cx="11494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Before analysis, ask yourself: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347472" y="1737360"/>
            <a:ext cx="11494008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347472" y="1737360"/>
            <a:ext cx="50292" cy="7863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75488" y="1929384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475488" y="19293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1005840" y="182880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 I know the Number of records?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1005840" y="212140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Use len(df) or df.shape[0]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8961120" y="1883664"/>
            <a:ext cx="2651760" cy="457200"/>
          </a:xfrm>
          <a:prstGeom prst="rect">
            <a:avLst/>
          </a:prstGeom>
          <a:solidFill>
            <a:srgbClr val="0F1B4C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8961120" y="188366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Use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347472" y="2615184"/>
            <a:ext cx="11494008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347472" y="2615184"/>
            <a:ext cx="50292" cy="7863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475488" y="2807208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475488" y="28072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1005840" y="2706624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 I know the Number of countries?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1005840" y="29992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df['country'].nunique()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8961120" y="2761488"/>
            <a:ext cx="2651760" cy="457200"/>
          </a:xfrm>
          <a:prstGeom prst="rect">
            <a:avLst/>
          </a:prstGeom>
          <a:solidFill>
            <a:srgbClr val="0F1B4C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8961120" y="27614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df['country'].nunique()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347472" y="3493008"/>
            <a:ext cx="11494008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347472" y="3493008"/>
            <a:ext cx="50292" cy="7863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475488" y="3685032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475488" y="36850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1005840" y="3584448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 I know the Number of years?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1005840" y="387705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df['year'].nunique()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8961120" y="3639312"/>
            <a:ext cx="2651760" cy="457200"/>
          </a:xfrm>
          <a:prstGeom prst="rect">
            <a:avLst/>
          </a:prstGeom>
          <a:solidFill>
            <a:srgbClr val="0F1B4C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8961120" y="363931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df['year'].nunique()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347472" y="4370832"/>
            <a:ext cx="11494008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347472" y="4370832"/>
            <a:ext cx="50292" cy="7863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475488" y="4562856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475488" y="45628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1005840" y="4462272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 I know the Missing values?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1005840" y="47548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df.isnull().sum()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8961120" y="4517136"/>
            <a:ext cx="2651760" cy="457200"/>
          </a:xfrm>
          <a:prstGeom prst="rect">
            <a:avLst/>
          </a:prstGeom>
          <a:solidFill>
            <a:srgbClr val="0F1B4C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8961120" y="4517136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df.isnull().sum()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347472" y="5248656"/>
            <a:ext cx="11494008" cy="7863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347472" y="5248656"/>
            <a:ext cx="50292" cy="7863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475488" y="5440680"/>
            <a:ext cx="402336" cy="402336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475488" y="54406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1005840" y="5340096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Do I know the Data types correct?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1005840" y="563270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df.dtypes — year should be int, value float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8961120" y="5394960"/>
            <a:ext cx="2651760" cy="457200"/>
          </a:xfrm>
          <a:prstGeom prst="rect">
            <a:avLst/>
          </a:prstGeom>
          <a:solidFill>
            <a:srgbClr val="0F1B4C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8961120" y="53949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F0D080"/>
                </a:solidFill>
                <a:latin typeface="Courier New"/>
                <a:ea typeface="Courier New"/>
                <a:cs typeface="Courier New"/>
                <a:sym typeface="Courier New"/>
              </a:rPr>
              <a:t>df.dtypes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347472" y="5888736"/>
            <a:ext cx="11494008" cy="5486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347472" y="5888736"/>
            <a:ext cx="114940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Never skip validation.  A clean dataset is the foundation of trustworthy analysis.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5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Visualization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Understanding the distribution of broadband access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347472" y="1298448"/>
            <a:ext cx="6949440" cy="4846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347472" y="1298448"/>
            <a:ext cx="50292" cy="48463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475488" y="1426464"/>
            <a:ext cx="6711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HISTOGRAM EXAMPLE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475488" y="1700784"/>
            <a:ext cx="67116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Distribution of Broadband Access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Across All Countries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475488" y="3621024"/>
            <a:ext cx="493776" cy="493776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1024128" y="3209544"/>
            <a:ext cx="493776" cy="905256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1572768" y="2715768"/>
            <a:ext cx="493776" cy="1399032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2121408" y="2468880"/>
            <a:ext cx="493776" cy="164592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2670048" y="2798064"/>
            <a:ext cx="493776" cy="1316736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3218688" y="3127248"/>
            <a:ext cx="493776" cy="987552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3767328" y="3423514"/>
            <a:ext cx="493776" cy="691286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4315968" y="3621024"/>
            <a:ext cx="493776" cy="493776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4864608" y="3752698"/>
            <a:ext cx="493776" cy="362102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5413248" y="3867912"/>
            <a:ext cx="493776" cy="246888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475488" y="4114800"/>
            <a:ext cx="5943600" cy="36576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5A6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475488" y="4169664"/>
            <a:ext cx="5943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0%          20%          40%          60%          80%+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475488" y="4407408"/>
            <a:ext cx="5943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Broadband Subscriptions per 100 People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7452360" y="1298448"/>
            <a:ext cx="4663440" cy="484632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7452360" y="1298448"/>
            <a:ext cx="4663440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7452360" y="1463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QUESTIONS TO ASK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7543800" y="1956816"/>
            <a:ext cx="256032" cy="256032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7882128" y="1920240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the distribution skewed?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7543800" y="2670048"/>
            <a:ext cx="256032" cy="256032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7882128" y="2633472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 there extreme values?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7543800" y="3383280"/>
            <a:ext cx="256032" cy="256032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7882128" y="3346704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 there clusters?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7543800" y="4096512"/>
            <a:ext cx="256032" cy="256032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7882128" y="4059936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the peak tell us?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7543800" y="4809744"/>
            <a:ext cx="256032" cy="256032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7882128" y="4773168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the typical country's access rate?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6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Broadband by Income Level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Does income predict broadband access?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347472" y="1298448"/>
            <a:ext cx="6949440" cy="4846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347472" y="1298448"/>
            <a:ext cx="50292" cy="48463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475488" y="1426464"/>
            <a:ext cx="6711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BOXPLOT VISUALIZATION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1339596" y="2560320"/>
            <a:ext cx="18288" cy="164592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982980" y="2834640"/>
            <a:ext cx="731520" cy="82296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982980" y="3145536"/>
            <a:ext cx="731520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434340" y="53492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High Income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2939796" y="3246120"/>
            <a:ext cx="18288" cy="178308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2583180" y="3712464"/>
            <a:ext cx="731520" cy="905256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2583180" y="4133088"/>
            <a:ext cx="731520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2034540" y="53492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Upper Middle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4539996" y="4069080"/>
            <a:ext cx="18288" cy="1179576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5A6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4183380" y="4480560"/>
            <a:ext cx="731520" cy="603504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5A6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4183380" y="4791456"/>
            <a:ext cx="731520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3634740" y="53492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Lower Middle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6140196" y="4809744"/>
            <a:ext cx="18288" cy="493776"/>
          </a:xfrm>
          <a:prstGeom prst="rect">
            <a:avLst/>
          </a:prstGeom>
          <a:solidFill>
            <a:srgbClr val="8899BB"/>
          </a:solidFill>
          <a:ln cap="flat" cmpd="sng" w="12700">
            <a:solidFill>
              <a:srgbClr val="88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5783580" y="5029200"/>
            <a:ext cx="731520" cy="246888"/>
          </a:xfrm>
          <a:prstGeom prst="rect">
            <a:avLst/>
          </a:prstGeom>
          <a:solidFill>
            <a:srgbClr val="8899BB"/>
          </a:solidFill>
          <a:ln cap="flat" cmpd="sng" w="12700">
            <a:solidFill>
              <a:srgbClr val="88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5783580" y="5175504"/>
            <a:ext cx="731520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5234940" y="53492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Low Income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530352" y="2560320"/>
            <a:ext cx="18288" cy="2743200"/>
          </a:xfrm>
          <a:prstGeom prst="rect">
            <a:avLst/>
          </a:prstGeom>
          <a:solidFill>
            <a:srgbClr val="5A6E9E"/>
          </a:solidFill>
          <a:ln cap="flat" cmpd="sng" w="12700">
            <a:solidFill>
              <a:srgbClr val="5A6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 rot="5400000">
            <a:off x="-704088" y="382219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Broadband per 100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7452360" y="1298448"/>
            <a:ext cx="4663440" cy="484632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7452360" y="1298448"/>
            <a:ext cx="4663440" cy="5486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7452360" y="1463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7452360" y="237744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higher income countries generally have greater broadband access?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7452360" y="3931920"/>
            <a:ext cx="4663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What does the boxplot tell us?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7543800" y="4315968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 Range of values per group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7543800" y="4736592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 Median access rate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7543800" y="5157216"/>
            <a:ext cx="4480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 Spread and overlap between groups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7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Data to Insight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Numbers become useful when they are interpreted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47472" y="1298448"/>
            <a:ext cx="11494008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347472" y="1298448"/>
            <a:ext cx="50292" cy="10972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475488" y="1371600"/>
            <a:ext cx="11274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EXAMPLE INSIGHT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475488" y="1609344"/>
            <a:ext cx="112745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"High income countries generally show higher broadband subscription rates than lower income countries, suggesting that economic resources drive digital infrastructure investment."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347472" y="2523744"/>
            <a:ext cx="35661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347472" y="2523744"/>
            <a:ext cx="3566160" cy="73152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1856232" y="2743200"/>
            <a:ext cx="548640" cy="548640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1856232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475488" y="3346704"/>
            <a:ext cx="3310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What happened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475488" y="3785616"/>
            <a:ext cx="33101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State the finding clearly — what does the data show?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4133088" y="2523744"/>
            <a:ext cx="35661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4133088" y="2523744"/>
            <a:ext cx="356616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5641848" y="2743200"/>
            <a:ext cx="548640" cy="54864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5641848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4261104" y="3346704"/>
            <a:ext cx="3310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4261104" y="3785616"/>
            <a:ext cx="33101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Connect the finding to a real-world consequence.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7918704" y="2523744"/>
            <a:ext cx="35661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7918704" y="2523744"/>
            <a:ext cx="3566160" cy="73152"/>
          </a:xfrm>
          <a:prstGeom prst="rect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9427464" y="2743200"/>
            <a:ext cx="548640" cy="548640"/>
          </a:xfrm>
          <a:prstGeom prst="ellipse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9427464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8046720" y="3346704"/>
            <a:ext cx="33101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What should happen next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8046720" y="3785616"/>
            <a:ext cx="33101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Suggest a question, action, or area for further study.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347472" y="566928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300"/>
              <a:buFont typeface="Calibri"/>
              <a:buNone/>
            </a:pPr>
            <a:r>
              <a:rPr b="1" i="1" lang="en-US" sz="13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Good analysts explain all three.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8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Reflection Questions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Consolidate your thinking from today's workshop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347472" y="1335024"/>
            <a:ext cx="11494008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347472" y="1335024"/>
            <a:ext cx="50292" cy="87782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475488" y="1572768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475488" y="15727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1005840" y="142646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Why remove aggregate records?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1005840" y="177393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What goes wrong if you leave them in?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347472" y="2304288"/>
            <a:ext cx="11494008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347472" y="2304288"/>
            <a:ext cx="50292" cy="87782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475488" y="2542032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475488" y="25420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1005840" y="2395728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Why isn't country code length alone enough to filter them out?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1005840" y="2743200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Think about what codes like 'WLD' or '1W' look like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347472" y="3273552"/>
            <a:ext cx="11494008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347472" y="3273552"/>
            <a:ext cx="50292" cy="87782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475488" y="3511296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475488" y="35112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1005840" y="336499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What role does metadata play in data validation?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1005840" y="371246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Where does the Region field come from?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347472" y="4242816"/>
            <a:ext cx="11494008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347472" y="4242816"/>
            <a:ext cx="50292" cy="87782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475488" y="4480560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475488" y="44805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1005840" y="433425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What challenges arise when working with public data?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1005840" y="4681728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Think about coverage, timeliness, and definitions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347472" y="5212080"/>
            <a:ext cx="11494008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347472" y="5212080"/>
            <a:ext cx="50292" cy="87782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475488" y="5449824"/>
            <a:ext cx="402336" cy="402336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475488" y="5449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/>
          <p:nvPr/>
        </p:nvSpPr>
        <p:spPr>
          <a:xfrm>
            <a:off x="1005840" y="5303520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How might poor data quality affect policy decisions?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1005840" y="5650992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Consider a government using this data to allocate broadband funding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347472" y="91440"/>
            <a:ext cx="114940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Connection to Upcoming Workshops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347472" y="731520"/>
            <a:ext cx="11494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Public datasets appear throughout the entire series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9"/>
          <p:cNvSpPr/>
          <p:nvPr/>
        </p:nvSpPr>
        <p:spPr>
          <a:xfrm>
            <a:off x="347472" y="1353312"/>
            <a:ext cx="11494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The skills you practised today feed directly into every remaining workshop: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347472" y="1773936"/>
            <a:ext cx="356616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347472" y="1773936"/>
            <a:ext cx="3566160" cy="91440"/>
          </a:xfrm>
          <a:prstGeom prst="rect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1801368" y="1975104"/>
            <a:ext cx="658368" cy="658368"/>
          </a:xfrm>
          <a:prstGeom prst="ellipse">
            <a:avLst/>
          </a:prstGeom>
          <a:solidFill>
            <a:srgbClr val="2A3F7E"/>
          </a:solidFill>
          <a:ln cap="flat" cmpd="sng" w="12700">
            <a:solidFill>
              <a:srgbClr val="2A3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9"/>
          <p:cNvSpPr/>
          <p:nvPr/>
        </p:nvSpPr>
        <p:spPr>
          <a:xfrm>
            <a:off x="1801368" y="197510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457200" y="2743200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Workshop 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457200" y="2980944"/>
            <a:ext cx="33467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493776" y="3438144"/>
            <a:ext cx="327355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Use cleaned public data to build publication-quality charts. Histogram, boxplot, and map-style visualizations.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9"/>
          <p:cNvSpPr/>
          <p:nvPr/>
        </p:nvSpPr>
        <p:spPr>
          <a:xfrm>
            <a:off x="4133088" y="1773936"/>
            <a:ext cx="356616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9"/>
          <p:cNvSpPr/>
          <p:nvPr/>
        </p:nvSpPr>
        <p:spPr>
          <a:xfrm>
            <a:off x="4133088" y="1773936"/>
            <a:ext cx="3566160" cy="9144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5586984" y="1975104"/>
            <a:ext cx="658368" cy="65836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5586984" y="197510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9"/>
          <p:cNvSpPr/>
          <p:nvPr/>
        </p:nvSpPr>
        <p:spPr>
          <a:xfrm>
            <a:off x="4242816" y="2743200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Workshop 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9"/>
          <p:cNvSpPr/>
          <p:nvPr/>
        </p:nvSpPr>
        <p:spPr>
          <a:xfrm>
            <a:off x="4242816" y="2980944"/>
            <a:ext cx="33467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4279392" y="3438144"/>
            <a:ext cx="327355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Train a Random Forest model on the NJ digital equity dataset. Validation steps you learned today apply directly.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7918704" y="1773936"/>
            <a:ext cx="356616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7918704" y="1773936"/>
            <a:ext cx="3566160" cy="91440"/>
          </a:xfrm>
          <a:prstGeom prst="rect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9372600" y="1975104"/>
            <a:ext cx="658368" cy="658368"/>
          </a:xfrm>
          <a:prstGeom prst="ellipse">
            <a:avLst/>
          </a:prstGeom>
          <a:solidFill>
            <a:srgbClr val="3A6B8A"/>
          </a:solidFill>
          <a:ln cap="flat" cmpd="sng" w="12700">
            <a:solidFill>
              <a:srgbClr val="3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9372600" y="197510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8028432" y="2743200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Workshop 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8028432" y="2980944"/>
            <a:ext cx="33467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54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540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8065008" y="3438144"/>
            <a:ext cx="327355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Choose your own public dataset, apply the full pipeline, and present your findings to the group.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347472" y="5724144"/>
            <a:ext cx="11494008" cy="54864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475488" y="5724144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E9E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E9E"/>
                </a:solidFill>
                <a:latin typeface="Calibri"/>
                <a:ea typeface="Calibri"/>
                <a:cs typeface="Calibri"/>
                <a:sym typeface="Calibri"/>
              </a:rPr>
              <a:t>Public datasets can be used in all three — and in your own independent projects.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4C"/>
          </a:solidFill>
          <a:ln cap="flat" cmpd="sng" w="12700">
            <a:solidFill>
              <a:srgbClr val="0F1B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347472" y="164592"/>
            <a:ext cx="114940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347472" y="493776"/>
            <a:ext cx="11494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5 — Working with Real Public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347472" y="969264"/>
            <a:ext cx="4572000" cy="5029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347472" y="1115568"/>
            <a:ext cx="11494008" cy="694944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347472" y="1115568"/>
            <a:ext cx="50292" cy="6949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0"/>
          <p:cNvSpPr/>
          <p:nvPr/>
        </p:nvSpPr>
        <p:spPr>
          <a:xfrm>
            <a:off x="475488" y="1271016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0"/>
          <p:cNvSpPr/>
          <p:nvPr/>
        </p:nvSpPr>
        <p:spPr>
          <a:xfrm>
            <a:off x="475488" y="1271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969264" y="1115568"/>
            <a:ext cx="107350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provide live, programmatic access to public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347472" y="1901952"/>
            <a:ext cx="11494008" cy="694944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0"/>
          <p:cNvSpPr/>
          <p:nvPr/>
        </p:nvSpPr>
        <p:spPr>
          <a:xfrm>
            <a:off x="347472" y="1901952"/>
            <a:ext cx="50292" cy="6949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0"/>
          <p:cNvSpPr/>
          <p:nvPr/>
        </p:nvSpPr>
        <p:spPr>
          <a:xfrm>
            <a:off x="475488" y="2057400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0"/>
          <p:cNvSpPr/>
          <p:nvPr/>
        </p:nvSpPr>
        <p:spPr>
          <a:xfrm>
            <a:off x="475488" y="2057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969264" y="1901952"/>
            <a:ext cx="107350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 datasets require validation before any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347472" y="2688336"/>
            <a:ext cx="11494008" cy="694944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347472" y="2688336"/>
            <a:ext cx="50292" cy="6949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0"/>
          <p:cNvSpPr/>
          <p:nvPr/>
        </p:nvSpPr>
        <p:spPr>
          <a:xfrm>
            <a:off x="475488" y="2843784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475488" y="28437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969264" y="2688336"/>
            <a:ext cx="107350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 is critical for understanding what each row represents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347472" y="3474720"/>
            <a:ext cx="11494008" cy="694944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347472" y="3474720"/>
            <a:ext cx="50292" cy="6949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475488" y="3630168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475488" y="36301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969264" y="3474720"/>
            <a:ext cx="107350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Aggregate records must be identified and removed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347472" y="4261104"/>
            <a:ext cx="11494008" cy="694944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347472" y="4261104"/>
            <a:ext cx="50292" cy="6949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475488" y="4416552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475488" y="44165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969264" y="4261104"/>
            <a:ext cx="107350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 and validation are a core part of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0"/>
          <p:cNvSpPr/>
          <p:nvPr/>
        </p:nvSpPr>
        <p:spPr>
          <a:xfrm>
            <a:off x="347472" y="5047488"/>
            <a:ext cx="11494008" cy="694944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347472" y="5047488"/>
            <a:ext cx="50292" cy="6949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475488" y="5202936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475488" y="52029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4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969264" y="5047488"/>
            <a:ext cx="1073505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Reproducibility — document every step of your pipeline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2026-05-29T18:10:27Z</dcterms:created>
  <dc:creator>PptxGenJS</dc:creator>
</cp:coreProperties>
</file>