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46081F-03AC-4267-8792-558989B27780}" v="2" dt="2026-06-09T17:02:02.647"/>
    <p1510:client id="{579005F0-E207-714F-8048-81C3ACFE6D43}" v="100" dt="2026-06-09T16:59:42.6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RRIANN GRANT" userId="91aef3bf47478cf9" providerId="LiveId" clId="{9DAA915B-9C4B-4F01-916B-D87FBE349B01}"/>
    <pc:docChg chg="custSel modSld">
      <pc:chgData name="TERRIANN GRANT" userId="91aef3bf47478cf9" providerId="LiveId" clId="{9DAA915B-9C4B-4F01-916B-D87FBE349B01}" dt="2026-05-21T01:24:11.180" v="22" actId="113"/>
      <pc:docMkLst>
        <pc:docMk/>
      </pc:docMkLst>
      <pc:sldChg chg="addSp delSp modSp mod">
        <pc:chgData name="TERRIANN GRANT" userId="91aef3bf47478cf9" providerId="LiveId" clId="{9DAA915B-9C4B-4F01-916B-D87FBE349B01}" dt="2026-05-21T01:17:00.203" v="2" actId="1076"/>
        <pc:sldMkLst>
          <pc:docMk/>
          <pc:sldMk cId="0" sldId="256"/>
        </pc:sldMkLst>
        <pc:spChg chg="add mod">
          <ac:chgData name="TERRIANN GRANT" userId="91aef3bf47478cf9" providerId="LiveId" clId="{9DAA915B-9C4B-4F01-916B-D87FBE349B01}" dt="2026-05-21T01:17:00.203" v="2" actId="1076"/>
          <ac:spMkLst>
            <pc:docMk/>
            <pc:sldMk cId="0" sldId="256"/>
            <ac:spMk id="14" creationId="{A6A30E1E-620E-2482-8A99-6C6342322B6B}"/>
          </ac:spMkLst>
        </pc:spChg>
      </pc:sldChg>
      <pc:sldChg chg="modSp">
        <pc:chgData name="TERRIANN GRANT" userId="91aef3bf47478cf9" providerId="LiveId" clId="{9DAA915B-9C4B-4F01-916B-D87FBE349B01}" dt="2026-05-21T01:20:42.746" v="9" actId="20577"/>
        <pc:sldMkLst>
          <pc:docMk/>
          <pc:sldMk cId="0" sldId="261"/>
        </pc:sldMkLst>
        <pc:spChg chg="mod">
          <ac:chgData name="TERRIANN GRANT" userId="91aef3bf47478cf9" providerId="LiveId" clId="{9DAA915B-9C4B-4F01-916B-D87FBE349B01}" dt="2026-05-21T01:20:42.746" v="9" actId="20577"/>
          <ac:spMkLst>
            <pc:docMk/>
            <pc:sldMk cId="0" sldId="261"/>
            <ac:spMk id="10" creationId="{00000000-0000-0000-0000-000000000000}"/>
          </ac:spMkLst>
        </pc:spChg>
      </pc:sldChg>
      <pc:sldChg chg="modSp mod">
        <pc:chgData name="TERRIANN GRANT" userId="91aef3bf47478cf9" providerId="LiveId" clId="{9DAA915B-9C4B-4F01-916B-D87FBE349B01}" dt="2026-05-21T01:24:11.180" v="22" actId="113"/>
        <pc:sldMkLst>
          <pc:docMk/>
          <pc:sldMk cId="0" sldId="262"/>
        </pc:sldMkLst>
        <pc:spChg chg="mod">
          <ac:chgData name="TERRIANN GRANT" userId="91aef3bf47478cf9" providerId="LiveId" clId="{9DAA915B-9C4B-4F01-916B-D87FBE349B01}" dt="2026-05-21T01:24:11.180" v="22" actId="113"/>
          <ac:spMkLst>
            <pc:docMk/>
            <pc:sldMk cId="0" sldId="262"/>
            <ac:spMk id="23" creationId="{00000000-0000-0000-0000-000000000000}"/>
          </ac:spMkLst>
        </pc:spChg>
      </pc:sldChg>
    </pc:docChg>
  </pc:docChgLst>
  <pc:docChgLst>
    <pc:chgData name="TERRIANN GRANT" userId="91aef3bf47478cf9" providerId="Windows Live" clId="Web-{579005F0-E207-714F-8048-81C3ACFE6D43}"/>
    <pc:docChg chg="addSld modSld">
      <pc:chgData name="TERRIANN GRANT" userId="91aef3bf47478cf9" providerId="Windows Live" clId="Web-{579005F0-E207-714F-8048-81C3ACFE6D43}" dt="2026-06-09T16:59:42.623" v="102"/>
      <pc:docMkLst>
        <pc:docMk/>
      </pc:docMkLst>
      <pc:sldChg chg="addSp delSp modSp new mod setBg">
        <pc:chgData name="TERRIANN GRANT" userId="91aef3bf47478cf9" providerId="Windows Live" clId="Web-{579005F0-E207-714F-8048-81C3ACFE6D43}" dt="2026-06-09T16:59:42.623" v="102"/>
        <pc:sldMkLst>
          <pc:docMk/>
          <pc:sldMk cId="4172064397" sldId="268"/>
        </pc:sldMkLst>
        <pc:spChg chg="add del mod">
          <ac:chgData name="TERRIANN GRANT" userId="91aef3bf47478cf9" providerId="Windows Live" clId="Web-{579005F0-E207-714F-8048-81C3ACFE6D43}" dt="2026-06-09T16:51:26.369" v="48"/>
          <ac:spMkLst>
            <pc:docMk/>
            <pc:sldMk cId="4172064397" sldId="268"/>
            <ac:spMk id="2" creationId="{8D6A6EE3-C9E1-5A2B-C34F-FDCEBD58BFFD}"/>
          </ac:spMkLst>
        </pc:spChg>
        <pc:spChg chg="add del mod ord">
          <ac:chgData name="TERRIANN GRANT" userId="91aef3bf47478cf9" providerId="Windows Live" clId="Web-{579005F0-E207-714F-8048-81C3ACFE6D43}" dt="2026-06-09T16:54:18.111" v="66"/>
          <ac:spMkLst>
            <pc:docMk/>
            <pc:sldMk cId="4172064397" sldId="268"/>
            <ac:spMk id="3" creationId="{A27F6270-CA4B-BE7D-6F1E-FF631EB40A16}"/>
          </ac:spMkLst>
        </pc:spChg>
        <pc:spChg chg="add mod topLvl">
          <ac:chgData name="TERRIANN GRANT" userId="91aef3bf47478cf9" providerId="Windows Live" clId="Web-{579005F0-E207-714F-8048-81C3ACFE6D43}" dt="2026-06-09T16:59:33.982" v="101"/>
          <ac:spMkLst>
            <pc:docMk/>
            <pc:sldMk cId="4172064397" sldId="268"/>
            <ac:spMk id="5" creationId="{D144176E-73E7-081C-2C4C-E293F4F5D9AB}"/>
          </ac:spMkLst>
        </pc:spChg>
        <pc:spChg chg="add del topLvl">
          <ac:chgData name="TERRIANN GRANT" userId="91aef3bf47478cf9" providerId="Windows Live" clId="Web-{579005F0-E207-714F-8048-81C3ACFE6D43}" dt="2026-06-09T16:49:24.896" v="41"/>
          <ac:spMkLst>
            <pc:docMk/>
            <pc:sldMk cId="4172064397" sldId="268"/>
            <ac:spMk id="7" creationId="{04789D5B-9346-3378-7AD5-024F7B48B4FE}"/>
          </ac:spMkLst>
        </pc:spChg>
        <pc:spChg chg="add mod">
          <ac:chgData name="TERRIANN GRANT" userId="91aef3bf47478cf9" providerId="Windows Live" clId="Web-{579005F0-E207-714F-8048-81C3ACFE6D43}" dt="2026-06-09T16:59:42.623" v="102"/>
          <ac:spMkLst>
            <pc:docMk/>
            <pc:sldMk cId="4172064397" sldId="268"/>
            <ac:spMk id="9" creationId="{99A75777-3BF6-A567-A857-6FA19B8B0A82}"/>
          </ac:spMkLst>
        </pc:spChg>
        <pc:spChg chg="add del">
          <ac:chgData name="TERRIANN GRANT" userId="91aef3bf47478cf9" providerId="Windows Live" clId="Web-{579005F0-E207-714F-8048-81C3ACFE6D43}" dt="2026-06-09T16:53:52.094" v="61"/>
          <ac:spMkLst>
            <pc:docMk/>
            <pc:sldMk cId="4172064397" sldId="268"/>
            <ac:spMk id="14" creationId="{09588DA8-065E-4F6F-8EFD-43104AB2E0CF}"/>
          </ac:spMkLst>
        </pc:spChg>
        <pc:spChg chg="add del">
          <ac:chgData name="TERRIANN GRANT" userId="91aef3bf47478cf9" providerId="Windows Live" clId="Web-{579005F0-E207-714F-8048-81C3ACFE6D43}" dt="2026-06-09T16:53:42.281" v="59"/>
          <ac:spMkLst>
            <pc:docMk/>
            <pc:sldMk cId="4172064397" sldId="268"/>
            <ac:spMk id="15" creationId="{F13C74B1-5B17-4795-BED0-7140497B445A}"/>
          </ac:spMkLst>
        </pc:spChg>
        <pc:spChg chg="add del">
          <ac:chgData name="TERRIANN GRANT" userId="91aef3bf47478cf9" providerId="Windows Live" clId="Web-{579005F0-E207-714F-8048-81C3ACFE6D43}" dt="2026-06-09T16:53:52.094" v="61"/>
          <ac:spMkLst>
            <pc:docMk/>
            <pc:sldMk cId="4172064397" sldId="268"/>
            <ac:spMk id="16" creationId="{C4285719-470E-454C-AF62-8323075F1F5B}"/>
          </ac:spMkLst>
        </pc:spChg>
        <pc:spChg chg="add del">
          <ac:chgData name="TERRIANN GRANT" userId="91aef3bf47478cf9" providerId="Windows Live" clId="Web-{579005F0-E207-714F-8048-81C3ACFE6D43}" dt="2026-06-09T16:53:42.281" v="59"/>
          <ac:spMkLst>
            <pc:docMk/>
            <pc:sldMk cId="4172064397" sldId="268"/>
            <ac:spMk id="17" creationId="{D4974D33-8DC5-464E-8C6D-BE58F0669C17}"/>
          </ac:spMkLst>
        </pc:spChg>
        <pc:spChg chg="add del">
          <ac:chgData name="TERRIANN GRANT" userId="91aef3bf47478cf9" providerId="Windows Live" clId="Web-{579005F0-E207-714F-8048-81C3ACFE6D43}" dt="2026-06-09T16:53:52.094" v="61"/>
          <ac:spMkLst>
            <pc:docMk/>
            <pc:sldMk cId="4172064397" sldId="268"/>
            <ac:spMk id="18" creationId="{CD9FE4EF-C4D8-49A0-B2FF-81D8DB7D8A24}"/>
          </ac:spMkLst>
        </pc:spChg>
        <pc:spChg chg="add del">
          <ac:chgData name="TERRIANN GRANT" userId="91aef3bf47478cf9" providerId="Windows Live" clId="Web-{579005F0-E207-714F-8048-81C3ACFE6D43}" dt="2026-06-09T16:53:52.094" v="61"/>
          <ac:spMkLst>
            <pc:docMk/>
            <pc:sldMk cId="4172064397" sldId="268"/>
            <ac:spMk id="20" creationId="{4300840D-0A0B-4512-BACA-B439D5B9C57C}"/>
          </ac:spMkLst>
        </pc:spChg>
        <pc:spChg chg="add del">
          <ac:chgData name="TERRIANN GRANT" userId="91aef3bf47478cf9" providerId="Windows Live" clId="Web-{579005F0-E207-714F-8048-81C3ACFE6D43}" dt="2026-06-09T16:53:52.094" v="61"/>
          <ac:spMkLst>
            <pc:docMk/>
            <pc:sldMk cId="4172064397" sldId="268"/>
            <ac:spMk id="22" creationId="{D2B78728-A580-49A7-84F9-6EF6F583ADE0}"/>
          </ac:spMkLst>
        </pc:spChg>
        <pc:spChg chg="add del">
          <ac:chgData name="TERRIANN GRANT" userId="91aef3bf47478cf9" providerId="Windows Live" clId="Web-{579005F0-E207-714F-8048-81C3ACFE6D43}" dt="2026-06-09T16:53:52.094" v="61"/>
          <ac:spMkLst>
            <pc:docMk/>
            <pc:sldMk cId="4172064397" sldId="268"/>
            <ac:spMk id="24" creationId="{38FAA1A1-D861-433F-88FA-1E9D6FD31D11}"/>
          </ac:spMkLst>
        </pc:spChg>
        <pc:spChg chg="add del">
          <ac:chgData name="TERRIANN GRANT" userId="91aef3bf47478cf9" providerId="Windows Live" clId="Web-{579005F0-E207-714F-8048-81C3ACFE6D43}" dt="2026-06-09T16:53:52.094" v="61"/>
          <ac:spMkLst>
            <pc:docMk/>
            <pc:sldMk cId="4172064397" sldId="268"/>
            <ac:spMk id="26" creationId="{8D71EDA1-87BF-4D5D-AB79-F346FD19278A}"/>
          </ac:spMkLst>
        </pc:spChg>
        <pc:spChg chg="add del">
          <ac:chgData name="TERRIANN GRANT" userId="91aef3bf47478cf9" providerId="Windows Live" clId="Web-{579005F0-E207-714F-8048-81C3ACFE6D43}" dt="2026-06-09T16:54:10.188" v="63"/>
          <ac:spMkLst>
            <pc:docMk/>
            <pc:sldMk cId="4172064397" sldId="268"/>
            <ac:spMk id="28" creationId="{2659FDB4-FCBE-4A89-B46D-43D4FA54464D}"/>
          </ac:spMkLst>
        </pc:spChg>
        <pc:spChg chg="add del">
          <ac:chgData name="TERRIANN GRANT" userId="91aef3bf47478cf9" providerId="Windows Live" clId="Web-{579005F0-E207-714F-8048-81C3ACFE6D43}" dt="2026-06-09T16:54:18.079" v="65"/>
          <ac:spMkLst>
            <pc:docMk/>
            <pc:sldMk cId="4172064397" sldId="268"/>
            <ac:spMk id="32" creationId="{09588DA8-065E-4F6F-8EFD-43104AB2E0CF}"/>
          </ac:spMkLst>
        </pc:spChg>
        <pc:spChg chg="add del">
          <ac:chgData name="TERRIANN GRANT" userId="91aef3bf47478cf9" providerId="Windows Live" clId="Web-{579005F0-E207-714F-8048-81C3ACFE6D43}" dt="2026-06-09T16:54:18.079" v="65"/>
          <ac:spMkLst>
            <pc:docMk/>
            <pc:sldMk cId="4172064397" sldId="268"/>
            <ac:spMk id="33" creationId="{C4285719-470E-454C-AF62-8323075F1F5B}"/>
          </ac:spMkLst>
        </pc:spChg>
        <pc:spChg chg="add del">
          <ac:chgData name="TERRIANN GRANT" userId="91aef3bf47478cf9" providerId="Windows Live" clId="Web-{579005F0-E207-714F-8048-81C3ACFE6D43}" dt="2026-06-09T16:54:18.079" v="65"/>
          <ac:spMkLst>
            <pc:docMk/>
            <pc:sldMk cId="4172064397" sldId="268"/>
            <ac:spMk id="34" creationId="{CD9FE4EF-C4D8-49A0-B2FF-81D8DB7D8A24}"/>
          </ac:spMkLst>
        </pc:spChg>
        <pc:spChg chg="add del">
          <ac:chgData name="TERRIANN GRANT" userId="91aef3bf47478cf9" providerId="Windows Live" clId="Web-{579005F0-E207-714F-8048-81C3ACFE6D43}" dt="2026-06-09T16:54:18.079" v="65"/>
          <ac:spMkLst>
            <pc:docMk/>
            <pc:sldMk cId="4172064397" sldId="268"/>
            <ac:spMk id="36" creationId="{D2B78728-A580-49A7-84F9-6EF6F583ADE0}"/>
          </ac:spMkLst>
        </pc:spChg>
        <pc:spChg chg="add del">
          <ac:chgData name="TERRIANN GRANT" userId="91aef3bf47478cf9" providerId="Windows Live" clId="Web-{579005F0-E207-714F-8048-81C3ACFE6D43}" dt="2026-06-09T16:54:18.079" v="65"/>
          <ac:spMkLst>
            <pc:docMk/>
            <pc:sldMk cId="4172064397" sldId="268"/>
            <ac:spMk id="37" creationId="{38FAA1A1-D861-433F-88FA-1E9D6FD31D11}"/>
          </ac:spMkLst>
        </pc:spChg>
        <pc:spChg chg="add del">
          <ac:chgData name="TERRIANN GRANT" userId="91aef3bf47478cf9" providerId="Windows Live" clId="Web-{579005F0-E207-714F-8048-81C3ACFE6D43}" dt="2026-06-09T16:54:18.079" v="65"/>
          <ac:spMkLst>
            <pc:docMk/>
            <pc:sldMk cId="4172064397" sldId="268"/>
            <ac:spMk id="38" creationId="{8D71EDA1-87BF-4D5D-AB79-F346FD19278A}"/>
          </ac:spMkLst>
        </pc:spChg>
        <pc:spChg chg="add del">
          <ac:chgData name="TERRIANN GRANT" userId="91aef3bf47478cf9" providerId="Windows Live" clId="Web-{579005F0-E207-714F-8048-81C3ACFE6D43}" dt="2026-06-09T16:54:18.079" v="65"/>
          <ac:spMkLst>
            <pc:docMk/>
            <pc:sldMk cId="4172064397" sldId="268"/>
            <ac:spMk id="39" creationId="{A27F6270-CA4B-BE7D-6F1E-FF631EB40A16}"/>
          </ac:spMkLst>
        </pc:spChg>
        <pc:spChg chg="add">
          <ac:chgData name="TERRIANN GRANT" userId="91aef3bf47478cf9" providerId="Windows Live" clId="Web-{579005F0-E207-714F-8048-81C3ACFE6D43}" dt="2026-06-09T16:54:18.111" v="66"/>
          <ac:spMkLst>
            <pc:docMk/>
            <pc:sldMk cId="4172064397" sldId="268"/>
            <ac:spMk id="41" creationId="{2659FDB4-FCBE-4A89-B46D-43D4FA54464D}"/>
          </ac:spMkLst>
        </pc:spChg>
        <pc:spChg chg="add mod ord">
          <ac:chgData name="TERRIANN GRANT" userId="91aef3bf47478cf9" providerId="Windows Live" clId="Web-{579005F0-E207-714F-8048-81C3ACFE6D43}" dt="2026-06-09T16:59:12.403" v="99"/>
          <ac:spMkLst>
            <pc:docMk/>
            <pc:sldMk cId="4172064397" sldId="268"/>
            <ac:spMk id="109" creationId="{C3100474-FBB6-4E8C-D8A4-CB35F769214D}"/>
          </ac:spMkLst>
        </pc:spChg>
        <pc:grpChg chg="add del mod">
          <ac:chgData name="TERRIANN GRANT" userId="91aef3bf47478cf9" providerId="Windows Live" clId="Web-{579005F0-E207-714F-8048-81C3ACFE6D43}" dt="2026-06-09T16:49:19.005" v="40"/>
          <ac:grpSpMkLst>
            <pc:docMk/>
            <pc:sldMk cId="4172064397" sldId="268"/>
            <ac:grpSpMk id="8" creationId="{1CF41AA7-3BA4-4C7C-7197-39BA1C16549E}"/>
          </ac:grpSpMkLst>
        </pc:grpChg>
        <pc:graphicFrameChg chg="add del">
          <ac:chgData name="TERRIANN GRANT" userId="91aef3bf47478cf9" providerId="Windows Live" clId="Web-{579005F0-E207-714F-8048-81C3ACFE6D43}" dt="2026-06-09T16:54:10.188" v="63"/>
          <ac:graphicFrameMkLst>
            <pc:docMk/>
            <pc:sldMk cId="4172064397" sldId="268"/>
            <ac:graphicFrameMk id="30" creationId="{87BCD8F3-F90E-C125-C573-B67E986DF726}"/>
          </ac:graphicFrameMkLst>
        </pc:graphicFrameChg>
        <pc:graphicFrameChg chg="add mod">
          <ac:chgData name="TERRIANN GRANT" userId="91aef3bf47478cf9" providerId="Windows Live" clId="Web-{579005F0-E207-714F-8048-81C3ACFE6D43}" dt="2026-06-09T16:56:42.741" v="83" actId="1076"/>
          <ac:graphicFrameMkLst>
            <pc:docMk/>
            <pc:sldMk cId="4172064397" sldId="268"/>
            <ac:graphicFrameMk id="43" creationId="{87BCD8F3-F90E-C125-C573-B67E986DF726}"/>
          </ac:graphicFrameMkLst>
        </pc:graphicFrameChg>
        <pc:picChg chg="add del">
          <ac:chgData name="TERRIANN GRANT" userId="91aef3bf47478cf9" providerId="Windows Live" clId="Web-{579005F0-E207-714F-8048-81C3ACFE6D43}" dt="2026-06-09T16:53:42.281" v="59"/>
          <ac:picMkLst>
            <pc:docMk/>
            <pc:sldMk cId="4172064397" sldId="268"/>
            <ac:picMk id="11" creationId="{E2098F78-CA44-BE35-AC0A-C4CEFCB07676}"/>
          </ac:picMkLst>
        </pc:picChg>
        <pc:cxnChg chg="add del">
          <ac:chgData name="TERRIANN GRANT" userId="91aef3bf47478cf9" providerId="Windows Live" clId="Web-{579005F0-E207-714F-8048-81C3ACFE6D43}" dt="2026-06-09T16:54:10.188" v="63"/>
          <ac:cxnSpMkLst>
            <pc:docMk/>
            <pc:sldMk cId="4172064397" sldId="268"/>
            <ac:cxnSpMk id="29" creationId="{C8F51B3F-8331-4E4A-AE96-D47B1006EEAD}"/>
          </ac:cxnSpMkLst>
        </pc:cxnChg>
        <pc:cxnChg chg="add">
          <ac:chgData name="TERRIANN GRANT" userId="91aef3bf47478cf9" providerId="Windows Live" clId="Web-{579005F0-E207-714F-8048-81C3ACFE6D43}" dt="2026-06-09T16:54:18.111" v="66"/>
          <ac:cxnSpMkLst>
            <pc:docMk/>
            <pc:sldMk cId="4172064397" sldId="268"/>
            <ac:cxnSpMk id="42" creationId="{C8F51B3F-8331-4E4A-AE96-D47B1006EEAD}"/>
          </ac:cxnSpMkLst>
        </pc:cxnChg>
      </pc:sldChg>
    </pc:docChg>
  </pc:docChgLst>
  <pc:docChgLst>
    <pc:chgData name="TERRIANN GRANT" userId="91aef3bf47478cf9" providerId="LiveId" clId="{607E77C0-410C-479D-8246-E7383D1EEE76}"/>
    <pc:docChg chg="modSld">
      <pc:chgData name="TERRIANN GRANT" userId="91aef3bf47478cf9" providerId="LiveId" clId="{607E77C0-410C-479D-8246-E7383D1EEE76}" dt="2026-06-09T17:02:02.647" v="1" actId="1582"/>
      <pc:docMkLst>
        <pc:docMk/>
      </pc:docMkLst>
      <pc:sldChg chg="modSp mod">
        <pc:chgData name="TERRIANN GRANT" userId="91aef3bf47478cf9" providerId="LiveId" clId="{607E77C0-410C-479D-8246-E7383D1EEE76}" dt="2026-06-09T17:02:02.647" v="1" actId="1582"/>
        <pc:sldMkLst>
          <pc:docMk/>
          <pc:sldMk cId="4172064397" sldId="268"/>
        </pc:sldMkLst>
        <pc:spChg chg="mod">
          <ac:chgData name="TERRIANN GRANT" userId="91aef3bf47478cf9" providerId="LiveId" clId="{607E77C0-410C-479D-8246-E7383D1EEE76}" dt="2026-06-09T17:02:02.647" v="1" actId="1582"/>
          <ac:spMkLst>
            <pc:docMk/>
            <pc:sldMk cId="4172064397" sldId="268"/>
            <ac:spMk id="109" creationId="{C3100474-FBB6-4E8C-D8A4-CB35F769214D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B0352D-246D-4557-B66B-35CD00A6855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D6511E0E-8A84-4648-BDDD-8533C684DA9E}">
      <dgm:prSet/>
      <dgm:spPr/>
      <dgm:t>
        <a:bodyPr/>
        <a:lstStyle/>
        <a:p>
          <a:r>
            <a:rPr lang="en-US" b="0" i="0" baseline="0"/>
            <a:t>X is the predictor we think is associated with it — here, median income. </a:t>
          </a:r>
          <a:endParaRPr lang="en-US"/>
        </a:p>
      </dgm:t>
    </dgm:pt>
    <dgm:pt modelId="{A6D83F60-0033-418B-A0DF-3D25299013B0}" type="parTrans" cxnId="{5A15104E-C8F3-40C2-9F8B-B7CD3B39C1B8}">
      <dgm:prSet/>
      <dgm:spPr/>
      <dgm:t>
        <a:bodyPr/>
        <a:lstStyle/>
        <a:p>
          <a:endParaRPr lang="en-US"/>
        </a:p>
      </dgm:t>
    </dgm:pt>
    <dgm:pt modelId="{D882FA58-7C87-4382-8B84-3BB40A23BF2E}" type="sibTrans" cxnId="{5A15104E-C8F3-40C2-9F8B-B7CD3B39C1B8}">
      <dgm:prSet/>
      <dgm:spPr/>
      <dgm:t>
        <a:bodyPr/>
        <a:lstStyle/>
        <a:p>
          <a:endParaRPr lang="en-US"/>
        </a:p>
      </dgm:t>
    </dgm:pt>
    <dgm:pt modelId="{BCFB8C3F-33E5-4CAA-9191-1D8BC2CA614B}">
      <dgm:prSet/>
      <dgm:spPr/>
      <dgm:t>
        <a:bodyPr/>
        <a:lstStyle/>
        <a:p>
          <a:r>
            <a:rPr lang="en-US" b="0" i="0" baseline="0"/>
            <a:t>a (the intercept) is the estimated value of Y when X equals zero. </a:t>
          </a:r>
          <a:endParaRPr lang="en-US"/>
        </a:p>
      </dgm:t>
    </dgm:pt>
    <dgm:pt modelId="{B34B46BE-5787-4AD7-83FE-0C1F90A168D8}" type="parTrans" cxnId="{CD58ED14-4F68-4AAD-B4AF-2E0EA7D426C3}">
      <dgm:prSet/>
      <dgm:spPr/>
      <dgm:t>
        <a:bodyPr/>
        <a:lstStyle/>
        <a:p>
          <a:endParaRPr lang="en-US"/>
        </a:p>
      </dgm:t>
    </dgm:pt>
    <dgm:pt modelId="{195A6ACB-DDD8-4140-B0DB-E7E0DE908E3B}" type="sibTrans" cxnId="{CD58ED14-4F68-4AAD-B4AF-2E0EA7D426C3}">
      <dgm:prSet/>
      <dgm:spPr/>
      <dgm:t>
        <a:bodyPr/>
        <a:lstStyle/>
        <a:p>
          <a:endParaRPr lang="en-US"/>
        </a:p>
      </dgm:t>
    </dgm:pt>
    <dgm:pt modelId="{9D78FD6D-AAB8-4BDE-9D24-59D22164F3B5}">
      <dgm:prSet/>
      <dgm:spPr/>
      <dgm:t>
        <a:bodyPr/>
        <a:lstStyle/>
        <a:p>
          <a:r>
            <a:rPr lang="en-US" b="0" i="0" baseline="0"/>
            <a:t>b (the coefficient) tells us how much Y changes, on average, for each one-unit increase in X. </a:t>
          </a:r>
          <a:endParaRPr lang="en-US"/>
        </a:p>
      </dgm:t>
    </dgm:pt>
    <dgm:pt modelId="{AE87F8E9-647C-433A-BFFD-768BD569061F}" type="parTrans" cxnId="{E86D7C56-C8EE-4A10-8EFB-24C59033CDEE}">
      <dgm:prSet/>
      <dgm:spPr/>
      <dgm:t>
        <a:bodyPr/>
        <a:lstStyle/>
        <a:p>
          <a:endParaRPr lang="en-US"/>
        </a:p>
      </dgm:t>
    </dgm:pt>
    <dgm:pt modelId="{262F98BF-DA4E-4249-9CF4-3A53934198A3}" type="sibTrans" cxnId="{E86D7C56-C8EE-4A10-8EFB-24C59033CDEE}">
      <dgm:prSet/>
      <dgm:spPr/>
      <dgm:t>
        <a:bodyPr/>
        <a:lstStyle/>
        <a:p>
          <a:endParaRPr lang="en-US"/>
        </a:p>
      </dgm:t>
    </dgm:pt>
    <dgm:pt modelId="{9899B6CA-FCDD-40CE-B691-8F1088B1B54B}">
      <dgm:prSet/>
      <dgm:spPr/>
      <dgm:t>
        <a:bodyPr/>
        <a:lstStyle/>
        <a:p>
          <a:r>
            <a:rPr lang="en-US" b="0" i="0" baseline="0"/>
            <a:t>ε (epsilon) is the error term — the part the model cannot explain. </a:t>
          </a:r>
          <a:endParaRPr lang="en-US"/>
        </a:p>
      </dgm:t>
    </dgm:pt>
    <dgm:pt modelId="{31599CC1-6BAE-4E7C-9914-07477E984568}" type="parTrans" cxnId="{5F54499D-FB6F-4A87-B3CD-A634996C36A3}">
      <dgm:prSet/>
      <dgm:spPr/>
      <dgm:t>
        <a:bodyPr/>
        <a:lstStyle/>
        <a:p>
          <a:endParaRPr lang="en-US"/>
        </a:p>
      </dgm:t>
    </dgm:pt>
    <dgm:pt modelId="{117833E0-4316-4D8D-BE51-5FAC42A44A58}" type="sibTrans" cxnId="{5F54499D-FB6F-4A87-B3CD-A634996C36A3}">
      <dgm:prSet/>
      <dgm:spPr/>
      <dgm:t>
        <a:bodyPr/>
        <a:lstStyle/>
        <a:p>
          <a:endParaRPr lang="en-US"/>
        </a:p>
      </dgm:t>
    </dgm:pt>
    <dgm:pt modelId="{C790BFD3-DA78-434D-A823-96B5E57BBE02}" type="pres">
      <dgm:prSet presAssocID="{18B0352D-246D-4557-B66B-35CD00A6855A}" presName="root" presStyleCnt="0">
        <dgm:presLayoutVars>
          <dgm:dir/>
          <dgm:resizeHandles val="exact"/>
        </dgm:presLayoutVars>
      </dgm:prSet>
      <dgm:spPr/>
    </dgm:pt>
    <dgm:pt modelId="{D5E5179E-C612-48EC-A1D7-F3C4CFC9985B}" type="pres">
      <dgm:prSet presAssocID="{D6511E0E-8A84-4648-BDDD-8533C684DA9E}" presName="compNode" presStyleCnt="0"/>
      <dgm:spPr/>
    </dgm:pt>
    <dgm:pt modelId="{E7158BF0-B8D6-4006-A19E-C1DF0FF65688}" type="pres">
      <dgm:prSet presAssocID="{D6511E0E-8A84-4648-BDDD-8533C684DA9E}" presName="bgRect" presStyleLbl="bgShp" presStyleIdx="0" presStyleCnt="4"/>
      <dgm:spPr/>
    </dgm:pt>
    <dgm:pt modelId="{DFDA508C-0076-43E0-8631-380029137739}" type="pres">
      <dgm:prSet presAssocID="{D6511E0E-8A84-4648-BDDD-8533C684DA9E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B964322E-5CEB-4942-B071-D5BC6EDB8207}" type="pres">
      <dgm:prSet presAssocID="{D6511E0E-8A84-4648-BDDD-8533C684DA9E}" presName="spaceRect" presStyleCnt="0"/>
      <dgm:spPr/>
    </dgm:pt>
    <dgm:pt modelId="{263DDE54-6A52-49A6-876A-0D09941C7F75}" type="pres">
      <dgm:prSet presAssocID="{D6511E0E-8A84-4648-BDDD-8533C684DA9E}" presName="parTx" presStyleLbl="revTx" presStyleIdx="0" presStyleCnt="4">
        <dgm:presLayoutVars>
          <dgm:chMax val="0"/>
          <dgm:chPref val="0"/>
        </dgm:presLayoutVars>
      </dgm:prSet>
      <dgm:spPr/>
    </dgm:pt>
    <dgm:pt modelId="{F68577B7-D7B6-4648-8AD0-5311D6767FC0}" type="pres">
      <dgm:prSet presAssocID="{D882FA58-7C87-4382-8B84-3BB40A23BF2E}" presName="sibTrans" presStyleCnt="0"/>
      <dgm:spPr/>
    </dgm:pt>
    <dgm:pt modelId="{A00C1B06-F3D7-482A-B9A8-5405394B07AF}" type="pres">
      <dgm:prSet presAssocID="{BCFB8C3F-33E5-4CAA-9191-1D8BC2CA614B}" presName="compNode" presStyleCnt="0"/>
      <dgm:spPr/>
    </dgm:pt>
    <dgm:pt modelId="{DBC73566-0A1E-4CC5-AB4A-C0224608346E}" type="pres">
      <dgm:prSet presAssocID="{BCFB8C3F-33E5-4CAA-9191-1D8BC2CA614B}" presName="bgRect" presStyleLbl="bgShp" presStyleIdx="1" presStyleCnt="4"/>
      <dgm:spPr/>
    </dgm:pt>
    <dgm:pt modelId="{6A794134-F11D-4DDB-AE1A-EB23AB4F8BEE}" type="pres">
      <dgm:prSet presAssocID="{BCFB8C3F-33E5-4CAA-9191-1D8BC2CA614B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thematics"/>
        </a:ext>
      </dgm:extLst>
    </dgm:pt>
    <dgm:pt modelId="{1B12A4CD-3195-42A8-8E47-20DDA4E9BC63}" type="pres">
      <dgm:prSet presAssocID="{BCFB8C3F-33E5-4CAA-9191-1D8BC2CA614B}" presName="spaceRect" presStyleCnt="0"/>
      <dgm:spPr/>
    </dgm:pt>
    <dgm:pt modelId="{2F453DE8-6C5D-4E2F-97A7-A73A930C3488}" type="pres">
      <dgm:prSet presAssocID="{BCFB8C3F-33E5-4CAA-9191-1D8BC2CA614B}" presName="parTx" presStyleLbl="revTx" presStyleIdx="1" presStyleCnt="4">
        <dgm:presLayoutVars>
          <dgm:chMax val="0"/>
          <dgm:chPref val="0"/>
        </dgm:presLayoutVars>
      </dgm:prSet>
      <dgm:spPr/>
    </dgm:pt>
    <dgm:pt modelId="{C307BE26-C63C-42A3-883C-CEA8BD52A1D2}" type="pres">
      <dgm:prSet presAssocID="{195A6ACB-DDD8-4140-B0DB-E7E0DE908E3B}" presName="sibTrans" presStyleCnt="0"/>
      <dgm:spPr/>
    </dgm:pt>
    <dgm:pt modelId="{DDD8B64F-FFB4-4903-A4E1-55DCF379DF72}" type="pres">
      <dgm:prSet presAssocID="{9D78FD6D-AAB8-4BDE-9D24-59D22164F3B5}" presName="compNode" presStyleCnt="0"/>
      <dgm:spPr/>
    </dgm:pt>
    <dgm:pt modelId="{C47647D7-7E07-462A-B109-1511B8FC04DD}" type="pres">
      <dgm:prSet presAssocID="{9D78FD6D-AAB8-4BDE-9D24-59D22164F3B5}" presName="bgRect" presStyleLbl="bgShp" presStyleIdx="2" presStyleCnt="4"/>
      <dgm:spPr/>
    </dgm:pt>
    <dgm:pt modelId="{D2B106E1-EDD0-4ACB-87E2-9DCAC15A4198}" type="pres">
      <dgm:prSet presAssocID="{9D78FD6D-AAB8-4BDE-9D24-59D22164F3B5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9D0427D5-1588-4AFD-A2FB-F78E284DD724}" type="pres">
      <dgm:prSet presAssocID="{9D78FD6D-AAB8-4BDE-9D24-59D22164F3B5}" presName="spaceRect" presStyleCnt="0"/>
      <dgm:spPr/>
    </dgm:pt>
    <dgm:pt modelId="{81CAA624-CBEB-49CF-8C48-A9E276E9E03B}" type="pres">
      <dgm:prSet presAssocID="{9D78FD6D-AAB8-4BDE-9D24-59D22164F3B5}" presName="parTx" presStyleLbl="revTx" presStyleIdx="2" presStyleCnt="4">
        <dgm:presLayoutVars>
          <dgm:chMax val="0"/>
          <dgm:chPref val="0"/>
        </dgm:presLayoutVars>
      </dgm:prSet>
      <dgm:spPr/>
    </dgm:pt>
    <dgm:pt modelId="{CA076AEA-54A2-401A-9940-FBB6BB14DA40}" type="pres">
      <dgm:prSet presAssocID="{262F98BF-DA4E-4249-9CF4-3A53934198A3}" presName="sibTrans" presStyleCnt="0"/>
      <dgm:spPr/>
    </dgm:pt>
    <dgm:pt modelId="{EC6C9049-911C-4473-83A4-386A77ED134A}" type="pres">
      <dgm:prSet presAssocID="{9899B6CA-FCDD-40CE-B691-8F1088B1B54B}" presName="compNode" presStyleCnt="0"/>
      <dgm:spPr/>
    </dgm:pt>
    <dgm:pt modelId="{605F69F1-C3D6-4A93-8E80-1FBCEFF8D617}" type="pres">
      <dgm:prSet presAssocID="{9899B6CA-FCDD-40CE-B691-8F1088B1B54B}" presName="bgRect" presStyleLbl="bgShp" presStyleIdx="3" presStyleCnt="4"/>
      <dgm:spPr/>
    </dgm:pt>
    <dgm:pt modelId="{B8422DF9-D918-4905-BED7-C618BF2DBF61}" type="pres">
      <dgm:prSet presAssocID="{9899B6CA-FCDD-40CE-B691-8F1088B1B54B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603E6D16-1239-4779-9CB6-D5638A284248}" type="pres">
      <dgm:prSet presAssocID="{9899B6CA-FCDD-40CE-B691-8F1088B1B54B}" presName="spaceRect" presStyleCnt="0"/>
      <dgm:spPr/>
    </dgm:pt>
    <dgm:pt modelId="{7E48ADE1-D191-47ED-A1DD-BA7FF002E76D}" type="pres">
      <dgm:prSet presAssocID="{9899B6CA-FCDD-40CE-B691-8F1088B1B54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D58ED14-4F68-4AAD-B4AF-2E0EA7D426C3}" srcId="{18B0352D-246D-4557-B66B-35CD00A6855A}" destId="{BCFB8C3F-33E5-4CAA-9191-1D8BC2CA614B}" srcOrd="1" destOrd="0" parTransId="{B34B46BE-5787-4AD7-83FE-0C1F90A168D8}" sibTransId="{195A6ACB-DDD8-4140-B0DB-E7E0DE908E3B}"/>
    <dgm:cxn modelId="{96D44036-C16C-4F89-B886-58123C42F998}" type="presOf" srcId="{9899B6CA-FCDD-40CE-B691-8F1088B1B54B}" destId="{7E48ADE1-D191-47ED-A1DD-BA7FF002E76D}" srcOrd="0" destOrd="0" presId="urn:microsoft.com/office/officeart/2018/2/layout/IconVerticalSolidList"/>
    <dgm:cxn modelId="{DFF15661-90EF-46A5-B21B-F21E009783AB}" type="presOf" srcId="{18B0352D-246D-4557-B66B-35CD00A6855A}" destId="{C790BFD3-DA78-434D-A823-96B5E57BBE02}" srcOrd="0" destOrd="0" presId="urn:microsoft.com/office/officeart/2018/2/layout/IconVerticalSolidList"/>
    <dgm:cxn modelId="{2BFA7444-31C9-40BB-9F7C-B68868B099C4}" type="presOf" srcId="{BCFB8C3F-33E5-4CAA-9191-1D8BC2CA614B}" destId="{2F453DE8-6C5D-4E2F-97A7-A73A930C3488}" srcOrd="0" destOrd="0" presId="urn:microsoft.com/office/officeart/2018/2/layout/IconVerticalSolidList"/>
    <dgm:cxn modelId="{5A15104E-C8F3-40C2-9F8B-B7CD3B39C1B8}" srcId="{18B0352D-246D-4557-B66B-35CD00A6855A}" destId="{D6511E0E-8A84-4648-BDDD-8533C684DA9E}" srcOrd="0" destOrd="0" parTransId="{A6D83F60-0033-418B-A0DF-3D25299013B0}" sibTransId="{D882FA58-7C87-4382-8B84-3BB40A23BF2E}"/>
    <dgm:cxn modelId="{E86D7C56-C8EE-4A10-8EFB-24C59033CDEE}" srcId="{18B0352D-246D-4557-B66B-35CD00A6855A}" destId="{9D78FD6D-AAB8-4BDE-9D24-59D22164F3B5}" srcOrd="2" destOrd="0" parTransId="{AE87F8E9-647C-433A-BFFD-768BD569061F}" sibTransId="{262F98BF-DA4E-4249-9CF4-3A53934198A3}"/>
    <dgm:cxn modelId="{8D64447A-4142-4A32-B6D9-13AF759D676E}" type="presOf" srcId="{D6511E0E-8A84-4648-BDDD-8533C684DA9E}" destId="{263DDE54-6A52-49A6-876A-0D09941C7F75}" srcOrd="0" destOrd="0" presId="urn:microsoft.com/office/officeart/2018/2/layout/IconVerticalSolidList"/>
    <dgm:cxn modelId="{5F54499D-FB6F-4A87-B3CD-A634996C36A3}" srcId="{18B0352D-246D-4557-B66B-35CD00A6855A}" destId="{9899B6CA-FCDD-40CE-B691-8F1088B1B54B}" srcOrd="3" destOrd="0" parTransId="{31599CC1-6BAE-4E7C-9914-07477E984568}" sibTransId="{117833E0-4316-4D8D-BE51-5FAC42A44A58}"/>
    <dgm:cxn modelId="{1BEE88CB-4F9B-4D26-BB3B-D694EC2060BB}" type="presOf" srcId="{9D78FD6D-AAB8-4BDE-9D24-59D22164F3B5}" destId="{81CAA624-CBEB-49CF-8C48-A9E276E9E03B}" srcOrd="0" destOrd="0" presId="urn:microsoft.com/office/officeart/2018/2/layout/IconVerticalSolidList"/>
    <dgm:cxn modelId="{4FBDB21F-CF78-404A-A113-DD5F412F8D35}" type="presParOf" srcId="{C790BFD3-DA78-434D-A823-96B5E57BBE02}" destId="{D5E5179E-C612-48EC-A1D7-F3C4CFC9985B}" srcOrd="0" destOrd="0" presId="urn:microsoft.com/office/officeart/2018/2/layout/IconVerticalSolidList"/>
    <dgm:cxn modelId="{651B6356-353A-485D-971D-8BA01980AC58}" type="presParOf" srcId="{D5E5179E-C612-48EC-A1D7-F3C4CFC9985B}" destId="{E7158BF0-B8D6-4006-A19E-C1DF0FF65688}" srcOrd="0" destOrd="0" presId="urn:microsoft.com/office/officeart/2018/2/layout/IconVerticalSolidList"/>
    <dgm:cxn modelId="{B64089D2-32D0-4CCC-ABBB-FFE0BF80F515}" type="presParOf" srcId="{D5E5179E-C612-48EC-A1D7-F3C4CFC9985B}" destId="{DFDA508C-0076-43E0-8631-380029137739}" srcOrd="1" destOrd="0" presId="urn:microsoft.com/office/officeart/2018/2/layout/IconVerticalSolidList"/>
    <dgm:cxn modelId="{EEBF1D3E-C158-4EF4-B3A1-1D0716CAC124}" type="presParOf" srcId="{D5E5179E-C612-48EC-A1D7-F3C4CFC9985B}" destId="{B964322E-5CEB-4942-B071-D5BC6EDB8207}" srcOrd="2" destOrd="0" presId="urn:microsoft.com/office/officeart/2018/2/layout/IconVerticalSolidList"/>
    <dgm:cxn modelId="{AD577DB5-746B-4B70-8B54-E243AB769BAD}" type="presParOf" srcId="{D5E5179E-C612-48EC-A1D7-F3C4CFC9985B}" destId="{263DDE54-6A52-49A6-876A-0D09941C7F75}" srcOrd="3" destOrd="0" presId="urn:microsoft.com/office/officeart/2018/2/layout/IconVerticalSolidList"/>
    <dgm:cxn modelId="{68E0A5D9-5D54-48E6-916F-B6B01C99DC75}" type="presParOf" srcId="{C790BFD3-DA78-434D-A823-96B5E57BBE02}" destId="{F68577B7-D7B6-4648-8AD0-5311D6767FC0}" srcOrd="1" destOrd="0" presId="urn:microsoft.com/office/officeart/2018/2/layout/IconVerticalSolidList"/>
    <dgm:cxn modelId="{E70E2619-D12A-40E8-803A-61E6EB6F27B3}" type="presParOf" srcId="{C790BFD3-DA78-434D-A823-96B5E57BBE02}" destId="{A00C1B06-F3D7-482A-B9A8-5405394B07AF}" srcOrd="2" destOrd="0" presId="urn:microsoft.com/office/officeart/2018/2/layout/IconVerticalSolidList"/>
    <dgm:cxn modelId="{F6CD5AD6-74C0-47BD-B0D1-C79A2AA2E324}" type="presParOf" srcId="{A00C1B06-F3D7-482A-B9A8-5405394B07AF}" destId="{DBC73566-0A1E-4CC5-AB4A-C0224608346E}" srcOrd="0" destOrd="0" presId="urn:microsoft.com/office/officeart/2018/2/layout/IconVerticalSolidList"/>
    <dgm:cxn modelId="{B31B969A-7A5D-4EAE-8764-DDD3AF67BF8A}" type="presParOf" srcId="{A00C1B06-F3D7-482A-B9A8-5405394B07AF}" destId="{6A794134-F11D-4DDB-AE1A-EB23AB4F8BEE}" srcOrd="1" destOrd="0" presId="urn:microsoft.com/office/officeart/2018/2/layout/IconVerticalSolidList"/>
    <dgm:cxn modelId="{BD37D120-9EC3-4776-8FA2-CCB4E3E6A476}" type="presParOf" srcId="{A00C1B06-F3D7-482A-B9A8-5405394B07AF}" destId="{1B12A4CD-3195-42A8-8E47-20DDA4E9BC63}" srcOrd="2" destOrd="0" presId="urn:microsoft.com/office/officeart/2018/2/layout/IconVerticalSolidList"/>
    <dgm:cxn modelId="{09FABE7C-1313-49C6-B437-9542B8037C8E}" type="presParOf" srcId="{A00C1B06-F3D7-482A-B9A8-5405394B07AF}" destId="{2F453DE8-6C5D-4E2F-97A7-A73A930C3488}" srcOrd="3" destOrd="0" presId="urn:microsoft.com/office/officeart/2018/2/layout/IconVerticalSolidList"/>
    <dgm:cxn modelId="{C2DA12CA-0E5C-44E1-BD20-B61CBE080E02}" type="presParOf" srcId="{C790BFD3-DA78-434D-A823-96B5E57BBE02}" destId="{C307BE26-C63C-42A3-883C-CEA8BD52A1D2}" srcOrd="3" destOrd="0" presId="urn:microsoft.com/office/officeart/2018/2/layout/IconVerticalSolidList"/>
    <dgm:cxn modelId="{3056B589-94BC-490A-BAE8-DE61D009AA5F}" type="presParOf" srcId="{C790BFD3-DA78-434D-A823-96B5E57BBE02}" destId="{DDD8B64F-FFB4-4903-A4E1-55DCF379DF72}" srcOrd="4" destOrd="0" presId="urn:microsoft.com/office/officeart/2018/2/layout/IconVerticalSolidList"/>
    <dgm:cxn modelId="{24EC9DFE-E29D-4A7B-9FE1-216A0886306D}" type="presParOf" srcId="{DDD8B64F-FFB4-4903-A4E1-55DCF379DF72}" destId="{C47647D7-7E07-462A-B109-1511B8FC04DD}" srcOrd="0" destOrd="0" presId="urn:microsoft.com/office/officeart/2018/2/layout/IconVerticalSolidList"/>
    <dgm:cxn modelId="{9FA70279-3EAD-471B-B281-40968AF8D6F0}" type="presParOf" srcId="{DDD8B64F-FFB4-4903-A4E1-55DCF379DF72}" destId="{D2B106E1-EDD0-4ACB-87E2-9DCAC15A4198}" srcOrd="1" destOrd="0" presId="urn:microsoft.com/office/officeart/2018/2/layout/IconVerticalSolidList"/>
    <dgm:cxn modelId="{70B1AEAD-BB74-4E38-B770-F87730E585BC}" type="presParOf" srcId="{DDD8B64F-FFB4-4903-A4E1-55DCF379DF72}" destId="{9D0427D5-1588-4AFD-A2FB-F78E284DD724}" srcOrd="2" destOrd="0" presId="urn:microsoft.com/office/officeart/2018/2/layout/IconVerticalSolidList"/>
    <dgm:cxn modelId="{DEAA5952-9BE1-457C-B33E-7CFA37B1FD8B}" type="presParOf" srcId="{DDD8B64F-FFB4-4903-A4E1-55DCF379DF72}" destId="{81CAA624-CBEB-49CF-8C48-A9E276E9E03B}" srcOrd="3" destOrd="0" presId="urn:microsoft.com/office/officeart/2018/2/layout/IconVerticalSolidList"/>
    <dgm:cxn modelId="{8BEDABAF-E1FB-4D93-A458-62EAB2BA0706}" type="presParOf" srcId="{C790BFD3-DA78-434D-A823-96B5E57BBE02}" destId="{CA076AEA-54A2-401A-9940-FBB6BB14DA40}" srcOrd="5" destOrd="0" presId="urn:microsoft.com/office/officeart/2018/2/layout/IconVerticalSolidList"/>
    <dgm:cxn modelId="{7CE17828-EEC8-4FBB-A4FF-0AD272FA8974}" type="presParOf" srcId="{C790BFD3-DA78-434D-A823-96B5E57BBE02}" destId="{EC6C9049-911C-4473-83A4-386A77ED134A}" srcOrd="6" destOrd="0" presId="urn:microsoft.com/office/officeart/2018/2/layout/IconVerticalSolidList"/>
    <dgm:cxn modelId="{9537D832-79D8-4AF3-A3A4-D74E2341A6A6}" type="presParOf" srcId="{EC6C9049-911C-4473-83A4-386A77ED134A}" destId="{605F69F1-C3D6-4A93-8E80-1FBCEFF8D617}" srcOrd="0" destOrd="0" presId="urn:microsoft.com/office/officeart/2018/2/layout/IconVerticalSolidList"/>
    <dgm:cxn modelId="{74E55DD1-326B-4E7B-AD99-654A06996B4B}" type="presParOf" srcId="{EC6C9049-911C-4473-83A4-386A77ED134A}" destId="{B8422DF9-D918-4905-BED7-C618BF2DBF61}" srcOrd="1" destOrd="0" presId="urn:microsoft.com/office/officeart/2018/2/layout/IconVerticalSolidList"/>
    <dgm:cxn modelId="{288AAB57-78D3-4FCF-8CD1-C9FCA53094D1}" type="presParOf" srcId="{EC6C9049-911C-4473-83A4-386A77ED134A}" destId="{603E6D16-1239-4779-9CB6-D5638A284248}" srcOrd="2" destOrd="0" presId="urn:microsoft.com/office/officeart/2018/2/layout/IconVerticalSolidList"/>
    <dgm:cxn modelId="{89FAB5F5-45F0-45BA-B70C-F5FE62499017}" type="presParOf" srcId="{EC6C9049-911C-4473-83A4-386A77ED134A}" destId="{7E48ADE1-D191-47ED-A1DD-BA7FF002E76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158BF0-B8D6-4006-A19E-C1DF0FF65688}">
      <dsp:nvSpPr>
        <dsp:cNvPr id="0" name=""/>
        <dsp:cNvSpPr/>
      </dsp:nvSpPr>
      <dsp:spPr>
        <a:xfrm>
          <a:off x="0" y="1739"/>
          <a:ext cx="4683949" cy="8817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DA508C-0076-43E0-8631-380029137739}">
      <dsp:nvSpPr>
        <dsp:cNvPr id="0" name=""/>
        <dsp:cNvSpPr/>
      </dsp:nvSpPr>
      <dsp:spPr>
        <a:xfrm>
          <a:off x="266743" y="200143"/>
          <a:ext cx="484987" cy="4849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3DDE54-6A52-49A6-876A-0D09941C7F75}">
      <dsp:nvSpPr>
        <dsp:cNvPr id="0" name=""/>
        <dsp:cNvSpPr/>
      </dsp:nvSpPr>
      <dsp:spPr>
        <a:xfrm>
          <a:off x="1018474" y="1739"/>
          <a:ext cx="3665474" cy="8817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323" tIns="93323" rIns="93323" bIns="9332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X is the predictor we think is associated with it — here, median income. </a:t>
          </a:r>
          <a:endParaRPr lang="en-US" sz="1600" kern="1200"/>
        </a:p>
      </dsp:txBody>
      <dsp:txXfrm>
        <a:off x="1018474" y="1739"/>
        <a:ext cx="3665474" cy="881795"/>
      </dsp:txXfrm>
    </dsp:sp>
    <dsp:sp modelId="{DBC73566-0A1E-4CC5-AB4A-C0224608346E}">
      <dsp:nvSpPr>
        <dsp:cNvPr id="0" name=""/>
        <dsp:cNvSpPr/>
      </dsp:nvSpPr>
      <dsp:spPr>
        <a:xfrm>
          <a:off x="0" y="1103984"/>
          <a:ext cx="4683949" cy="8817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794134-F11D-4DDB-AE1A-EB23AB4F8BEE}">
      <dsp:nvSpPr>
        <dsp:cNvPr id="0" name=""/>
        <dsp:cNvSpPr/>
      </dsp:nvSpPr>
      <dsp:spPr>
        <a:xfrm>
          <a:off x="266743" y="1302388"/>
          <a:ext cx="484987" cy="4849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453DE8-6C5D-4E2F-97A7-A73A930C3488}">
      <dsp:nvSpPr>
        <dsp:cNvPr id="0" name=""/>
        <dsp:cNvSpPr/>
      </dsp:nvSpPr>
      <dsp:spPr>
        <a:xfrm>
          <a:off x="1018474" y="1103984"/>
          <a:ext cx="3665474" cy="8817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323" tIns="93323" rIns="93323" bIns="9332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a (the intercept) is the estimated value of Y when X equals zero. </a:t>
          </a:r>
          <a:endParaRPr lang="en-US" sz="1600" kern="1200"/>
        </a:p>
      </dsp:txBody>
      <dsp:txXfrm>
        <a:off x="1018474" y="1103984"/>
        <a:ext cx="3665474" cy="881795"/>
      </dsp:txXfrm>
    </dsp:sp>
    <dsp:sp modelId="{C47647D7-7E07-462A-B109-1511B8FC04DD}">
      <dsp:nvSpPr>
        <dsp:cNvPr id="0" name=""/>
        <dsp:cNvSpPr/>
      </dsp:nvSpPr>
      <dsp:spPr>
        <a:xfrm>
          <a:off x="0" y="2206229"/>
          <a:ext cx="4683949" cy="8817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B106E1-EDD0-4ACB-87E2-9DCAC15A4198}">
      <dsp:nvSpPr>
        <dsp:cNvPr id="0" name=""/>
        <dsp:cNvSpPr/>
      </dsp:nvSpPr>
      <dsp:spPr>
        <a:xfrm>
          <a:off x="266743" y="2404633"/>
          <a:ext cx="484987" cy="4849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CAA624-CBEB-49CF-8C48-A9E276E9E03B}">
      <dsp:nvSpPr>
        <dsp:cNvPr id="0" name=""/>
        <dsp:cNvSpPr/>
      </dsp:nvSpPr>
      <dsp:spPr>
        <a:xfrm>
          <a:off x="1018474" y="2206229"/>
          <a:ext cx="3665474" cy="8817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323" tIns="93323" rIns="93323" bIns="9332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b (the coefficient) tells us how much Y changes, on average, for each one-unit increase in X. </a:t>
          </a:r>
          <a:endParaRPr lang="en-US" sz="1600" kern="1200"/>
        </a:p>
      </dsp:txBody>
      <dsp:txXfrm>
        <a:off x="1018474" y="2206229"/>
        <a:ext cx="3665474" cy="881795"/>
      </dsp:txXfrm>
    </dsp:sp>
    <dsp:sp modelId="{605F69F1-C3D6-4A93-8E80-1FBCEFF8D617}">
      <dsp:nvSpPr>
        <dsp:cNvPr id="0" name=""/>
        <dsp:cNvSpPr/>
      </dsp:nvSpPr>
      <dsp:spPr>
        <a:xfrm>
          <a:off x="0" y="3308474"/>
          <a:ext cx="4683949" cy="8817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422DF9-D918-4905-BED7-C618BF2DBF61}">
      <dsp:nvSpPr>
        <dsp:cNvPr id="0" name=""/>
        <dsp:cNvSpPr/>
      </dsp:nvSpPr>
      <dsp:spPr>
        <a:xfrm>
          <a:off x="266743" y="3506878"/>
          <a:ext cx="484987" cy="4849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48ADE1-D191-47ED-A1DD-BA7FF002E76D}">
      <dsp:nvSpPr>
        <dsp:cNvPr id="0" name=""/>
        <dsp:cNvSpPr/>
      </dsp:nvSpPr>
      <dsp:spPr>
        <a:xfrm>
          <a:off x="1018474" y="3308474"/>
          <a:ext cx="3665474" cy="8817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323" tIns="93323" rIns="93323" bIns="93323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ε (epsilon) is the error term — the part the model cannot explain. </a:t>
          </a:r>
          <a:endParaRPr lang="en-US" sz="1600" kern="1200"/>
        </a:p>
      </dsp:txBody>
      <dsp:txXfrm>
        <a:off x="1018474" y="3308474"/>
        <a:ext cx="3665474" cy="8817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4635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49440" y="-1097280"/>
            <a:ext cx="3200400" cy="3200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06640" y="-594360"/>
            <a:ext cx="2194560" cy="2194560"/>
          </a:xfrm>
          <a:prstGeom prst="ellipse">
            <a:avLst/>
          </a:prstGeom>
          <a:solidFill>
            <a:srgbClr val="2A3F7E"/>
          </a:solidFill>
          <a:ln w="1270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59436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30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DATA SCIENCE WORKSHOP SERIES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502920" y="1024128"/>
            <a:ext cx="54864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097280"/>
            <a:ext cx="685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 for</a:t>
            </a:r>
            <a:endParaRPr lang="en-US" sz="4400"/>
          </a:p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Decision</a:t>
            </a:r>
            <a:endParaRPr lang="en-US" sz="4400"/>
          </a:p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Making</a:t>
            </a:r>
            <a:endParaRPr lang="en-US" sz="4400"/>
          </a:p>
        </p:txBody>
      </p:sp>
      <p:sp>
        <p:nvSpPr>
          <p:cNvPr id="10" name="Shape 8"/>
          <p:cNvSpPr/>
          <p:nvPr/>
        </p:nvSpPr>
        <p:spPr>
          <a:xfrm>
            <a:off x="502920" y="4114800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41148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4828032"/>
            <a:ext cx="841248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Data Scientist  |  Applied Data Science Workshop</a:t>
            </a:r>
            <a:endParaRPr lang="en-US" sz="90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A6A30E1E-620E-2482-8A99-6C6342322B6B}"/>
              </a:ext>
            </a:extLst>
          </p:cNvPr>
          <p:cNvSpPr/>
          <p:nvPr/>
        </p:nvSpPr>
        <p:spPr>
          <a:xfrm>
            <a:off x="512064" y="346100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: Terri-Ann Grant</a:t>
            </a:r>
          </a:p>
          <a:p>
            <a:pPr marL="0" indent="0" algn="l">
              <a:buNone/>
            </a:pPr>
            <a:r>
              <a:rPr lang="en-US" sz="16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Graduate Specialist</a:t>
            </a:r>
          </a:p>
          <a:p>
            <a:pPr marL="0" indent="0" algn="l">
              <a:buNone/>
            </a:pPr>
            <a:r>
              <a:rPr lang="en-US" sz="16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terrianngrant@scarletmail.rutgers.edu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Goals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today's session, participants will: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5669280" cy="263347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64008" cy="263347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353312"/>
            <a:ext cx="5321808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5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purpose of regression analysis</a:t>
            </a:r>
            <a:endParaRPr lang="en-US" sz="135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5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how regression explains relationships</a:t>
            </a:r>
            <a:endParaRPr lang="en-US" sz="135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5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regression model in Python</a:t>
            </a:r>
            <a:endParaRPr lang="en-US" sz="135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5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model outputs</a:t>
            </a:r>
            <a:endParaRPr lang="en-US" sz="135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35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findings to real-world implications</a:t>
            </a:r>
            <a:endParaRPr lang="en-US" sz="1350"/>
          </a:p>
        </p:txBody>
      </p:sp>
      <p:sp>
        <p:nvSpPr>
          <p:cNvPr id="9" name="Shape 7"/>
          <p:cNvSpPr/>
          <p:nvPr/>
        </p:nvSpPr>
        <p:spPr>
          <a:xfrm>
            <a:off x="6263640" y="1170432"/>
            <a:ext cx="2514600" cy="370332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63640" y="1170432"/>
            <a:ext cx="25146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63640" y="1335024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000"/>
          </a:p>
          <a:p>
            <a:pPr marL="0" indent="0" algn="ctr">
              <a:buNone/>
            </a:pPr>
            <a:r>
              <a:rPr lang="en-US" sz="1000" b="1" kern="0" spc="20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6446520" y="2194560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4652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</a:t>
            </a:r>
            <a:endParaRPr lang="en-US" sz="800"/>
          </a:p>
        </p:txBody>
      </p:sp>
      <p:sp>
        <p:nvSpPr>
          <p:cNvPr id="14" name="Text 12"/>
          <p:cNvSpPr/>
          <p:nvPr/>
        </p:nvSpPr>
        <p:spPr>
          <a:xfrm>
            <a:off x="6903720" y="223113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Concepts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6446520" y="2724912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46520" y="27249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endParaRPr lang="en-US" sz="800"/>
          </a:p>
        </p:txBody>
      </p:sp>
      <p:sp>
        <p:nvSpPr>
          <p:cNvPr id="17" name="Text 15"/>
          <p:cNvSpPr/>
          <p:nvPr/>
        </p:nvSpPr>
        <p:spPr>
          <a:xfrm>
            <a:off x="6903720" y="276148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Equations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6446520" y="3255264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46520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800"/>
          </a:p>
        </p:txBody>
      </p:sp>
      <p:sp>
        <p:nvSpPr>
          <p:cNvPr id="20" name="Text 18"/>
          <p:cNvSpPr/>
          <p:nvPr/>
        </p:nvSpPr>
        <p:spPr>
          <a:xfrm>
            <a:off x="6903720" y="32918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Outputs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6446520" y="3785616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46520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800"/>
          </a:p>
        </p:txBody>
      </p:sp>
      <p:sp>
        <p:nvSpPr>
          <p:cNvPr id="23" name="Text 21"/>
          <p:cNvSpPr/>
          <p:nvPr/>
        </p:nvSpPr>
        <p:spPr>
          <a:xfrm>
            <a:off x="6903720" y="382219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6446520" y="4315968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46520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</a:t>
            </a:r>
            <a:endParaRPr lang="en-US" sz="800"/>
          </a:p>
        </p:txBody>
      </p:sp>
      <p:sp>
        <p:nvSpPr>
          <p:cNvPr id="26" name="Text 24"/>
          <p:cNvSpPr/>
          <p:nvPr/>
        </p:nvSpPr>
        <p:spPr>
          <a:xfrm>
            <a:off x="6903720" y="43525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Implications</a:t>
            </a:r>
            <a:endParaRPr 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Regression?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statistical method for examining relationships between variables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502920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64008" cy="3703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335024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IS USED TO: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566928" y="1792224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1792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1024128" y="173736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relationships between variables</a:t>
            </a:r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566928" y="2331720"/>
            <a:ext cx="4626864" cy="0"/>
          </a:xfrm>
          <a:prstGeom prst="line">
            <a:avLst/>
          </a:prstGeom>
          <a:noFill/>
          <a:ln w="6350">
            <a:solidFill>
              <a:srgbClr val="DCE6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66928" y="2450592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2450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1024128" y="2395728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trends in data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566928" y="2990088"/>
            <a:ext cx="4626864" cy="0"/>
          </a:xfrm>
          <a:prstGeom prst="line">
            <a:avLst/>
          </a:prstGeom>
          <a:noFill/>
          <a:ln w="6350">
            <a:solidFill>
              <a:srgbClr val="DCE6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66928" y="3108960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3108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1024128" y="3054096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evidence-based analysis</a:t>
            </a:r>
            <a:endParaRPr lang="en-US" sz="1400"/>
          </a:p>
        </p:txBody>
      </p:sp>
      <p:sp>
        <p:nvSpPr>
          <p:cNvPr id="20" name="Shape 18"/>
          <p:cNvSpPr/>
          <p:nvPr/>
        </p:nvSpPr>
        <p:spPr>
          <a:xfrm>
            <a:off x="5577840" y="1170432"/>
            <a:ext cx="3200400" cy="370332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577840" y="1170432"/>
            <a:ext cx="32004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577840" y="13350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QUESTIONS</a:t>
            </a:r>
            <a:endParaRPr lang="en-US" sz="1000"/>
          </a:p>
        </p:txBody>
      </p:sp>
      <p:sp>
        <p:nvSpPr>
          <p:cNvPr id="23" name="Shape 21"/>
          <p:cNvSpPr/>
          <p:nvPr/>
        </p:nvSpPr>
        <p:spPr>
          <a:xfrm>
            <a:off x="5806440" y="1828800"/>
            <a:ext cx="2743200" cy="749808"/>
          </a:xfrm>
          <a:prstGeom prst="roundRect">
            <a:avLst>
              <a:gd name="adj" fmla="val 9756"/>
            </a:avLst>
          </a:prstGeom>
          <a:solidFill>
            <a:srgbClr val="1E2761"/>
          </a:solidFill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897880" y="2029968"/>
            <a:ext cx="347472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897880" y="2029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6327648" y="1901952"/>
            <a:ext cx="2212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income influence internet access?</a:t>
            </a:r>
            <a:endParaRPr lang="en-US" sz="1200"/>
          </a:p>
        </p:txBody>
      </p:sp>
      <p:sp>
        <p:nvSpPr>
          <p:cNvPr id="27" name="Shape 25"/>
          <p:cNvSpPr/>
          <p:nvPr/>
        </p:nvSpPr>
        <p:spPr>
          <a:xfrm>
            <a:off x="5806440" y="2743200"/>
            <a:ext cx="2743200" cy="749808"/>
          </a:xfrm>
          <a:prstGeom prst="roundRect">
            <a:avLst>
              <a:gd name="adj" fmla="val 9756"/>
            </a:avLst>
          </a:prstGeom>
          <a:solidFill>
            <a:srgbClr val="1E2761"/>
          </a:solidFill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897880" y="2944368"/>
            <a:ext cx="347472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897880" y="2944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6327648" y="2816352"/>
            <a:ext cx="2212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strong is the relationship?</a:t>
            </a:r>
            <a:endParaRPr lang="en-US" sz="1200"/>
          </a:p>
        </p:txBody>
      </p:sp>
      <p:sp>
        <p:nvSpPr>
          <p:cNvPr id="31" name="Shape 29"/>
          <p:cNvSpPr/>
          <p:nvPr/>
        </p:nvSpPr>
        <p:spPr>
          <a:xfrm>
            <a:off x="5806440" y="3657600"/>
            <a:ext cx="2743200" cy="749808"/>
          </a:xfrm>
          <a:prstGeom prst="roundRect">
            <a:avLst>
              <a:gd name="adj" fmla="val 9756"/>
            </a:avLst>
          </a:prstGeom>
          <a:solidFill>
            <a:srgbClr val="1E2761"/>
          </a:solidFill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897880" y="3858768"/>
            <a:ext cx="347472" cy="34747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897880" y="3858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/>
          </a:p>
        </p:txBody>
      </p:sp>
      <p:sp>
        <p:nvSpPr>
          <p:cNvPr id="34" name="Text 32"/>
          <p:cNvSpPr/>
          <p:nvPr/>
        </p:nvSpPr>
        <p:spPr>
          <a:xfrm>
            <a:off x="6327648" y="3730752"/>
            <a:ext cx="2212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factors appear most important?</a:t>
            </a:r>
            <a:endParaRPr 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is used across a wide range of fields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6060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64008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12064" y="1554480"/>
            <a:ext cx="402336" cy="40233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12064" y="1554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</a:t>
            </a:r>
            <a:endParaRPr lang="en-US" sz="800"/>
          </a:p>
        </p:txBody>
      </p:sp>
      <p:sp>
        <p:nvSpPr>
          <p:cNvPr id="10" name="Text 8"/>
          <p:cNvSpPr/>
          <p:nvPr/>
        </p:nvSpPr>
        <p:spPr>
          <a:xfrm>
            <a:off x="1033272" y="1463040"/>
            <a:ext cx="180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Policy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3218688" y="1188720"/>
            <a:ext cx="26060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18688" y="1188720"/>
            <a:ext cx="64008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364992" y="1554480"/>
            <a:ext cx="402336" cy="40233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64992" y="1554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</a:t>
            </a:r>
            <a:endParaRPr lang="en-US" sz="800"/>
          </a:p>
        </p:txBody>
      </p:sp>
      <p:sp>
        <p:nvSpPr>
          <p:cNvPr id="15" name="Text 13"/>
          <p:cNvSpPr/>
          <p:nvPr/>
        </p:nvSpPr>
        <p:spPr>
          <a:xfrm>
            <a:off x="3886200" y="1463040"/>
            <a:ext cx="180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6071616" y="1188720"/>
            <a:ext cx="26060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71616" y="1188720"/>
            <a:ext cx="64008" cy="1143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17920" y="1554480"/>
            <a:ext cx="402336" cy="40233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7920" y="1554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HLT</a:t>
            </a:r>
            <a:endParaRPr lang="en-US" sz="800"/>
          </a:p>
        </p:txBody>
      </p:sp>
      <p:sp>
        <p:nvSpPr>
          <p:cNvPr id="20" name="Text 18"/>
          <p:cNvSpPr/>
          <p:nvPr/>
        </p:nvSpPr>
        <p:spPr>
          <a:xfrm>
            <a:off x="6739128" y="1463040"/>
            <a:ext cx="180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400"/>
          </a:p>
        </p:txBody>
      </p:sp>
      <p:sp>
        <p:nvSpPr>
          <p:cNvPr id="21" name="Shape 19"/>
          <p:cNvSpPr/>
          <p:nvPr/>
        </p:nvSpPr>
        <p:spPr>
          <a:xfrm>
            <a:off x="1444752" y="2487168"/>
            <a:ext cx="26060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444752" y="2487168"/>
            <a:ext cx="64008" cy="1143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591056" y="2852928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591056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</a:t>
            </a:r>
            <a:endParaRPr lang="en-US" sz="800"/>
          </a:p>
        </p:txBody>
      </p:sp>
      <p:sp>
        <p:nvSpPr>
          <p:cNvPr id="25" name="Text 23"/>
          <p:cNvSpPr/>
          <p:nvPr/>
        </p:nvSpPr>
        <p:spPr>
          <a:xfrm>
            <a:off x="2112264" y="2761488"/>
            <a:ext cx="180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Planning</a:t>
            </a:r>
            <a:endParaRPr lang="en-US" sz="1400"/>
          </a:p>
        </p:txBody>
      </p:sp>
      <p:sp>
        <p:nvSpPr>
          <p:cNvPr id="26" name="Shape 24"/>
          <p:cNvSpPr/>
          <p:nvPr/>
        </p:nvSpPr>
        <p:spPr>
          <a:xfrm>
            <a:off x="4297680" y="2487168"/>
            <a:ext cx="26060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297680" y="2487168"/>
            <a:ext cx="64008" cy="1143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443984" y="2852928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443984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MKT</a:t>
            </a:r>
            <a:endParaRPr lang="en-US" sz="800"/>
          </a:p>
        </p:txBody>
      </p:sp>
      <p:sp>
        <p:nvSpPr>
          <p:cNvPr id="30" name="Text 28"/>
          <p:cNvSpPr/>
          <p:nvPr/>
        </p:nvSpPr>
        <p:spPr>
          <a:xfrm>
            <a:off x="4965192" y="2761488"/>
            <a:ext cx="1801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Analytics</a:t>
            </a:r>
            <a:endParaRPr lang="en-US" sz="140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8412480" cy="1097280"/>
          </a:xfrm>
          <a:prstGeom prst="rect">
            <a:avLst/>
          </a:prstGeom>
          <a:solidFill>
            <a:srgbClr val="0F1B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48640" y="3840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00"/>
          </a:p>
        </p:txBody>
      </p:sp>
      <p:sp>
        <p:nvSpPr>
          <p:cNvPr id="33" name="Shape 31"/>
          <p:cNvSpPr/>
          <p:nvPr/>
        </p:nvSpPr>
        <p:spPr>
          <a:xfrm>
            <a:off x="548640" y="4151376"/>
            <a:ext cx="8046720" cy="0"/>
          </a:xfrm>
          <a:prstGeom prst="line">
            <a:avLst/>
          </a:prstGeom>
          <a:noFill/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48640" y="420624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broadband accessibility using demographic variables such as median household income and education level.</a:t>
            </a:r>
            <a:endParaRPr lang="en-US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Variables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of every regression model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4160520" cy="370332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41605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335024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VARIABLE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594360" y="173736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 we want to explain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640080" y="2221992"/>
            <a:ext cx="3611880" cy="0"/>
          </a:xfrm>
          <a:prstGeom prst="line">
            <a:avLst/>
          </a:prstGeom>
          <a:noFill/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61972" y="2377440"/>
            <a:ext cx="768096" cy="76809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061972" y="23774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2800"/>
          </a:p>
        </p:txBody>
      </p:sp>
      <p:sp>
        <p:nvSpPr>
          <p:cNvPr id="13" name="Text 11"/>
          <p:cNvSpPr/>
          <p:nvPr/>
        </p:nvSpPr>
        <p:spPr>
          <a:xfrm>
            <a:off x="594360" y="327355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the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594360" y="3529584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Variable</a:t>
            </a:r>
            <a:endParaRPr lang="en-US" sz="1400"/>
          </a:p>
        </p:txBody>
      </p:sp>
      <p:sp>
        <p:nvSpPr>
          <p:cNvPr id="15" name="Shape 13"/>
          <p:cNvSpPr/>
          <p:nvPr/>
        </p:nvSpPr>
        <p:spPr>
          <a:xfrm>
            <a:off x="731520" y="3959352"/>
            <a:ext cx="3429000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3986784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868680" y="420624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access rate</a:t>
            </a:r>
            <a:endParaRPr lang="en-US" sz="1300"/>
          </a:p>
        </p:txBody>
      </p:sp>
      <p:sp>
        <p:nvSpPr>
          <p:cNvPr id="18" name="Shape 16"/>
          <p:cNvSpPr/>
          <p:nvPr/>
        </p:nvSpPr>
        <p:spPr>
          <a:xfrm>
            <a:off x="4709160" y="1170432"/>
            <a:ext cx="406908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09160" y="1170432"/>
            <a:ext cx="64008" cy="3703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10328" y="13350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VARIABLE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4910328" y="1700784"/>
            <a:ext cx="3721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factor that may influence the outcome</a:t>
            </a:r>
            <a:endParaRPr lang="en-US" sz="1300"/>
          </a:p>
        </p:txBody>
      </p:sp>
      <p:sp>
        <p:nvSpPr>
          <p:cNvPr id="22" name="Shape 20"/>
          <p:cNvSpPr/>
          <p:nvPr/>
        </p:nvSpPr>
        <p:spPr>
          <a:xfrm>
            <a:off x="4910328" y="2176272"/>
            <a:ext cx="3666744" cy="0"/>
          </a:xfrm>
          <a:prstGeom prst="line">
            <a:avLst/>
          </a:prstGeom>
          <a:noFill/>
          <a:ln w="6350">
            <a:solidFill>
              <a:srgbClr val="DCE6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359652" y="2313432"/>
            <a:ext cx="768096" cy="7680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59652" y="23134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800"/>
          </a:p>
        </p:txBody>
      </p:sp>
      <p:sp>
        <p:nvSpPr>
          <p:cNvPr id="25" name="Text 23"/>
          <p:cNvSpPr/>
          <p:nvPr/>
        </p:nvSpPr>
        <p:spPr>
          <a:xfrm>
            <a:off x="4910328" y="3200400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the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4910328" y="3456432"/>
            <a:ext cx="3721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 Variable</a:t>
            </a:r>
            <a:endParaRPr lang="en-US" sz="1400"/>
          </a:p>
        </p:txBody>
      </p:sp>
      <p:sp>
        <p:nvSpPr>
          <p:cNvPr id="27" name="Shape 25"/>
          <p:cNvSpPr/>
          <p:nvPr/>
        </p:nvSpPr>
        <p:spPr>
          <a:xfrm>
            <a:off x="5029200" y="3959352"/>
            <a:ext cx="3520440" cy="658368"/>
          </a:xfrm>
          <a:prstGeom prst="roundRect">
            <a:avLst>
              <a:gd name="adj" fmla="val 11111"/>
            </a:avLst>
          </a:prstGeom>
          <a:solidFill>
            <a:srgbClr val="F4F6FB"/>
          </a:solidFill>
          <a:ln w="6350">
            <a:solidFill>
              <a:srgbClr val="DCE6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66360" y="3986784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5166360" y="4206240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household income</a:t>
            </a:r>
            <a:endParaRPr lang="en-US"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Regression Equation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changes in one variable relate to another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8412480" cy="749808"/>
          </a:xfrm>
          <a:prstGeom prst="rect">
            <a:avLst/>
          </a:prstGeom>
          <a:solidFill>
            <a:srgbClr val="0F1B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Concept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548640" y="140817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estimates how changes in one variable are statistically associated with changes in another.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2286000" y="2057400"/>
            <a:ext cx="457200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8"/>
              <p:cNvSpPr/>
              <p:nvPr/>
            </p:nvSpPr>
            <p:spPr>
              <a:xfrm>
                <a:off x="2286000" y="2057400"/>
                <a:ext cx="4572000" cy="7772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rgbClr val="F0D08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𝒀</m:t>
                      </m:r>
                      <m:r>
                        <a:rPr lang="en-US" sz="2400" b="1" i="1" dirty="0" smtClean="0">
                          <a:solidFill>
                            <a:srgbClr val="F0D08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  =  </m:t>
                      </m:r>
                      <m:r>
                        <a:rPr lang="en-US" sz="2400" b="1" i="1" dirty="0" smtClean="0">
                          <a:solidFill>
                            <a:srgbClr val="F0D08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𝒂</m:t>
                      </m:r>
                      <m:r>
                        <a:rPr lang="en-US" sz="2400" b="1" i="1" dirty="0" smtClean="0">
                          <a:solidFill>
                            <a:srgbClr val="F0D08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  +  </m:t>
                      </m:r>
                      <m:r>
                        <a:rPr lang="en-US" sz="2400" b="1" i="1" dirty="0" smtClean="0">
                          <a:solidFill>
                            <a:srgbClr val="F0D08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𝒃𝒙</m:t>
                      </m:r>
                      <m:r>
                        <a:rPr lang="en-US" sz="2400" b="1" i="1" dirty="0" smtClean="0">
                          <a:solidFill>
                            <a:srgbClr val="F0D08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  +  </m:t>
                      </m:r>
                      <m:r>
                        <a:rPr lang="en-US" sz="2400" b="1" i="1" dirty="0" smtClean="0">
                          <a:solidFill>
                            <a:srgbClr val="F0D080"/>
                          </a:solidFill>
                          <a:latin typeface="Cambria Math" panose="02040503050406030204" pitchFamily="18" charset="0"/>
                          <a:ea typeface="Calibri" pitchFamily="34" charset="-122"/>
                          <a:cs typeface="Calibri" pitchFamily="34" charset="-120"/>
                        </a:rPr>
                        <m:t>𝒆</m:t>
                      </m:r>
                    </m:oMath>
                  </m:oMathPara>
                </a14:m>
                <a:endParaRPr lang="en-US" sz="2400" b="1" i="1">
                  <a:solidFill>
                    <a:srgbClr val="F0D080"/>
                  </a:solidFill>
                  <a:latin typeface="Cambria Math" panose="02040503050406030204" pitchFamily="18" charset="0"/>
                  <a:ea typeface="Calibri" pitchFamily="34" charset="-122"/>
                  <a:cs typeface="Calibri" pitchFamily="34" charset="-120"/>
                </a:endParaRPr>
              </a:p>
            </p:txBody>
          </p:sp>
        </mc:Choice>
        <mc:Fallback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2057400"/>
                <a:ext cx="4572000" cy="7772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9"/>
          <p:cNvSpPr/>
          <p:nvPr/>
        </p:nvSpPr>
        <p:spPr>
          <a:xfrm>
            <a:off x="365760" y="3017520"/>
            <a:ext cx="41148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64008" cy="18745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21208" y="3730752"/>
            <a:ext cx="457200" cy="4572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21208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1078992" y="3127248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Relationship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1078992" y="3493008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one variable increases, the other tends to increase too.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1078992" y="4114800"/>
            <a:ext cx="3200400" cy="0"/>
          </a:xfrm>
          <a:prstGeom prst="line">
            <a:avLst/>
          </a:prstGeom>
          <a:noFill/>
          <a:ln w="6350">
            <a:solidFill>
              <a:srgbClr val="DCE6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78992" y="4187952"/>
            <a:ext cx="3273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income associated with higher broadband access.</a:t>
            </a:r>
            <a:endParaRPr lang="en-US" sz="1100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411480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09160" y="3017520"/>
            <a:ext cx="64008" cy="1874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64608" y="373075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64608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5422392" y="3127248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Relationship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5422392" y="3493008"/>
            <a:ext cx="3273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one variable increases, the other tends to decrease.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5422392" y="4114800"/>
            <a:ext cx="3200400" cy="0"/>
          </a:xfrm>
          <a:prstGeom prst="line">
            <a:avLst/>
          </a:prstGeom>
          <a:noFill/>
          <a:ln w="6350">
            <a:solidFill>
              <a:srgbClr val="DCE6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22392" y="4187952"/>
            <a:ext cx="3273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deprivation index may associate with lower access.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34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9" name="Shape 4">
            <a:extLst>
              <a:ext uri="{FF2B5EF4-FFF2-40B4-BE49-F238E27FC236}">
                <a16:creationId xmlns:a16="http://schemas.microsoft.com/office/drawing/2014/main" id="{C3100474-FBB6-4E8C-D8A4-CB35F769214D}"/>
              </a:ext>
            </a:extLst>
          </p:cNvPr>
          <p:cNvSpPr/>
          <p:nvPr/>
        </p:nvSpPr>
        <p:spPr>
          <a:xfrm>
            <a:off x="175260" y="682752"/>
            <a:ext cx="3329940" cy="4191000"/>
          </a:xfrm>
          <a:prstGeom prst="rect">
            <a:avLst/>
          </a:prstGeom>
          <a:solidFill>
            <a:srgbClr val="0F1B4C"/>
          </a:solidFill>
          <a:ln w="2857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D144176E-73E7-081C-2C4C-E293F4F5D9AB}"/>
              </a:ext>
            </a:extLst>
          </p:cNvPr>
          <p:cNvSpPr/>
          <p:nvPr/>
        </p:nvSpPr>
        <p:spPr>
          <a:xfrm>
            <a:off x="85225" y="406860"/>
            <a:ext cx="2954766" cy="4187344"/>
          </a:xfrm>
          <a:prstGeom prst="roundRect">
            <a:avLst>
              <a:gd name="adj" fmla="val 11765"/>
            </a:avLst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0" i="0" u="none" strike="noStrike" kern="1200" baseline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Y = a + </a:t>
            </a:r>
            <a:r>
              <a:rPr lang="en-US" sz="3200" b="0" i="0" u="none" strike="noStrike" kern="1200" baseline="0" err="1">
                <a:solidFill>
                  <a:srgbClr val="FFC000"/>
                </a:solidFill>
                <a:latin typeface="+mj-lt"/>
                <a:ea typeface="+mj-ea"/>
                <a:cs typeface="+mj-cs"/>
              </a:rPr>
              <a:t>bX</a:t>
            </a:r>
            <a:r>
              <a:rPr lang="en-US" sz="3200" b="0" i="0" u="none" strike="noStrike" kern="1200" baseline="0">
                <a:solidFill>
                  <a:srgbClr val="FFC000"/>
                </a:solidFill>
                <a:latin typeface="+mj-lt"/>
                <a:ea typeface="+mj-ea"/>
                <a:cs typeface="+mj-cs"/>
              </a:rPr>
              <a:t> + ε Y</a:t>
            </a:r>
            <a:endParaRPr lang="en-US" sz="3200" kern="1200">
              <a:solidFill>
                <a:srgbClr val="FFC000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849085"/>
            <a:ext cx="0" cy="42881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9A75777-3BF6-A567-A857-6FA19B8B0A82}"/>
              </a:ext>
            </a:extLst>
          </p:cNvPr>
          <p:cNvSpPr txBox="1"/>
          <p:nvPr/>
        </p:nvSpPr>
        <p:spPr>
          <a:xfrm>
            <a:off x="172101" y="3723299"/>
            <a:ext cx="3377146" cy="12772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600"/>
              </a:spcAft>
            </a:pPr>
            <a:r>
              <a:rPr lang="en-US" b="0" i="0" u="none" strike="noStrike" baseline="0">
                <a:solidFill>
                  <a:srgbClr val="FFFFFF"/>
                </a:solidFill>
                <a:latin typeface="Calibri"/>
                <a:ea typeface="Segoe UI"/>
                <a:cs typeface="Segoe UI"/>
              </a:rPr>
              <a:t>The model does not prove that X causes Y. It estimates the strength and direction of their association.​</a:t>
            </a:r>
            <a:r>
              <a:rPr lang="en-US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​</a:t>
            </a:r>
            <a:endParaRPr lang="en-US">
              <a:solidFill>
                <a:srgbClr val="FFFFFF"/>
              </a:solidFill>
            </a:endParaRPr>
          </a:p>
          <a:p>
            <a:pPr algn="ctr">
              <a:spcAft>
                <a:spcPts val="600"/>
              </a:spcAft>
            </a:pPr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43" name="TextBox 2">
            <a:extLst>
              <a:ext uri="{FF2B5EF4-FFF2-40B4-BE49-F238E27FC236}">
                <a16:creationId xmlns:a16="http://schemas.microsoft.com/office/drawing/2014/main" id="{87BCD8F3-F90E-C125-C573-B67E986DF7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4422761"/>
              </p:ext>
            </p:extLst>
          </p:nvPr>
        </p:nvGraphicFramePr>
        <p:xfrm>
          <a:off x="3770441" y="528780"/>
          <a:ext cx="4683949" cy="41920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2064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Regression Outputs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what the model tells us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41148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64008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21208" y="1609344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1208" y="1609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1078992" y="1261872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1078992" y="1627632"/>
            <a:ext cx="3273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direction and strength of each variable's relationship with the outcome.</a:t>
            </a:r>
            <a:endParaRPr lang="en-US" sz="1150"/>
          </a:p>
        </p:txBody>
      </p:sp>
      <p:sp>
        <p:nvSpPr>
          <p:cNvPr id="12" name="Shape 10"/>
          <p:cNvSpPr/>
          <p:nvPr/>
        </p:nvSpPr>
        <p:spPr>
          <a:xfrm>
            <a:off x="4709160" y="1170432"/>
            <a:ext cx="41148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09160" y="1170432"/>
            <a:ext cx="64008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64608" y="1609344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64608" y="1609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5422392" y="1261872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P-Values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5422392" y="1627632"/>
            <a:ext cx="3273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 whether a relationship is likely due to chance. Below 0.05 = statistically significant.</a:t>
            </a:r>
            <a:endParaRPr lang="en-US" sz="1150"/>
          </a:p>
        </p:txBody>
      </p:sp>
      <p:sp>
        <p:nvSpPr>
          <p:cNvPr id="18" name="Shape 16"/>
          <p:cNvSpPr/>
          <p:nvPr/>
        </p:nvSpPr>
        <p:spPr>
          <a:xfrm>
            <a:off x="365760" y="2679192"/>
            <a:ext cx="41148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2679192"/>
            <a:ext cx="64008" cy="13258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21208" y="3118104"/>
            <a:ext cx="457200" cy="4572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1208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1078992" y="2770632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R-Squared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1078992" y="3136392"/>
            <a:ext cx="3273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variation in the outcome explained by the model. Ranges from 0 to 1- </a:t>
            </a:r>
            <a:r>
              <a:rPr lang="en-US" sz="1150" b="1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fit</a:t>
            </a:r>
            <a:endParaRPr lang="en-US" sz="1150" b="1"/>
          </a:p>
        </p:txBody>
      </p:sp>
      <p:sp>
        <p:nvSpPr>
          <p:cNvPr id="24" name="Shape 22"/>
          <p:cNvSpPr/>
          <p:nvPr/>
        </p:nvSpPr>
        <p:spPr>
          <a:xfrm>
            <a:off x="4709160" y="2679192"/>
            <a:ext cx="41148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2679192"/>
            <a:ext cx="64008" cy="13258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64608" y="3118104"/>
            <a:ext cx="457200" cy="4572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64608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5422392" y="2770632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Intervals</a:t>
            </a:r>
            <a:endParaRPr lang="en-US" sz="1400"/>
          </a:p>
        </p:txBody>
      </p:sp>
      <p:sp>
        <p:nvSpPr>
          <p:cNvPr id="29" name="Text 27"/>
          <p:cNvSpPr/>
          <p:nvPr/>
        </p:nvSpPr>
        <p:spPr>
          <a:xfrm>
            <a:off x="5422392" y="3136392"/>
            <a:ext cx="3273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within which the true coefficient likely falls. Reflects uncertainty in the estimate.</a:t>
            </a:r>
            <a:endParaRPr lang="en-US" sz="1150"/>
          </a:p>
        </p:txBody>
      </p:sp>
      <p:sp>
        <p:nvSpPr>
          <p:cNvPr id="30" name="Shape 28"/>
          <p:cNvSpPr/>
          <p:nvPr/>
        </p:nvSpPr>
        <p:spPr>
          <a:xfrm>
            <a:off x="365760" y="4224528"/>
            <a:ext cx="8412480" cy="621792"/>
          </a:xfrm>
          <a:prstGeom prst="rect">
            <a:avLst/>
          </a:prstGeom>
          <a:solidFill>
            <a:srgbClr val="0F1B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" y="42793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TODAY</a:t>
            </a:r>
            <a:endParaRPr lang="en-US" sz="900"/>
          </a:p>
        </p:txBody>
      </p:sp>
      <p:sp>
        <p:nvSpPr>
          <p:cNvPr id="32" name="Shape 30"/>
          <p:cNvSpPr/>
          <p:nvPr/>
        </p:nvSpPr>
        <p:spPr>
          <a:xfrm>
            <a:off x="2286000" y="4261104"/>
            <a:ext cx="0" cy="548640"/>
          </a:xfrm>
          <a:prstGeom prst="line">
            <a:avLst/>
          </a:prstGeom>
          <a:noFill/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423160" y="4297680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over mathematical complexity — understanding what outputs mean, not deriving them.</a:t>
            </a:r>
            <a:endParaRPr lang="en-US" sz="1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Activities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collaborative notebook exercise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502920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64008" cy="3703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307592"/>
            <a:ext cx="4681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ACTIVITIES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566928" y="1773936"/>
            <a:ext cx="438912" cy="43891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1773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1115568" y="1737360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dataset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566928" y="2377440"/>
            <a:ext cx="438912" cy="43891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" y="2377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1115568" y="2340864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dependent and independent variables</a:t>
            </a:r>
            <a:endParaRPr lang="en-US" sz="1300"/>
          </a:p>
        </p:txBody>
      </p:sp>
      <p:sp>
        <p:nvSpPr>
          <p:cNvPr id="15" name="Shape 13"/>
          <p:cNvSpPr/>
          <p:nvPr/>
        </p:nvSpPr>
        <p:spPr>
          <a:xfrm>
            <a:off x="566928" y="2980944"/>
            <a:ext cx="438912" cy="43891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29809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1115568" y="2944368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regression model</a:t>
            </a:r>
            <a:endParaRPr lang="en-US" sz="1300"/>
          </a:p>
        </p:txBody>
      </p:sp>
      <p:sp>
        <p:nvSpPr>
          <p:cNvPr id="18" name="Shape 16"/>
          <p:cNvSpPr/>
          <p:nvPr/>
        </p:nvSpPr>
        <p:spPr>
          <a:xfrm>
            <a:off x="566928" y="3584448"/>
            <a:ext cx="438912" cy="43891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" y="3584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1115568" y="3547872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model outputs</a:t>
            </a:r>
            <a:endParaRPr lang="en-US" sz="1300"/>
          </a:p>
        </p:txBody>
      </p:sp>
      <p:sp>
        <p:nvSpPr>
          <p:cNvPr id="21" name="Shape 19"/>
          <p:cNvSpPr/>
          <p:nvPr/>
        </p:nvSpPr>
        <p:spPr>
          <a:xfrm>
            <a:off x="566928" y="4187952"/>
            <a:ext cx="438912" cy="43891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6928" y="41879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1115568" y="4151376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>
                <a:solidFill>
                  <a:srgbClr val="1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the relationship</a:t>
            </a:r>
            <a:endParaRPr lang="en-US" sz="1300"/>
          </a:p>
        </p:txBody>
      </p:sp>
      <p:sp>
        <p:nvSpPr>
          <p:cNvPr id="24" name="Shape 22"/>
          <p:cNvSpPr/>
          <p:nvPr/>
        </p:nvSpPr>
        <p:spPr>
          <a:xfrm>
            <a:off x="5577840" y="1170432"/>
            <a:ext cx="3200400" cy="370332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577840" y="1170432"/>
            <a:ext cx="32004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577840" y="13350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5806440" y="1764792"/>
            <a:ext cx="2743200" cy="6400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43600" y="18196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Statsmodels</a:t>
            </a:r>
            <a:endParaRPr lang="en-US" sz="1300"/>
          </a:p>
        </p:txBody>
      </p:sp>
      <p:sp>
        <p:nvSpPr>
          <p:cNvPr id="29" name="Text 27"/>
          <p:cNvSpPr/>
          <p:nvPr/>
        </p:nvSpPr>
        <p:spPr>
          <a:xfrm>
            <a:off x="5943600" y="20939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modelling &amp; output</a:t>
            </a:r>
            <a:endParaRPr lang="en-US" sz="1000"/>
          </a:p>
        </p:txBody>
      </p:sp>
      <p:sp>
        <p:nvSpPr>
          <p:cNvPr id="30" name="Shape 28"/>
          <p:cNvSpPr/>
          <p:nvPr/>
        </p:nvSpPr>
        <p:spPr>
          <a:xfrm>
            <a:off x="5806440" y="2532888"/>
            <a:ext cx="2743200" cy="6400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943600" y="2587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/>
          </a:p>
        </p:txBody>
      </p:sp>
      <p:sp>
        <p:nvSpPr>
          <p:cNvPr id="32" name="Text 30"/>
          <p:cNvSpPr/>
          <p:nvPr/>
        </p:nvSpPr>
        <p:spPr>
          <a:xfrm>
            <a:off x="5943600" y="28620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 &amp; manipulation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5806440" y="3300984"/>
            <a:ext cx="2743200" cy="6400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943600" y="3355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300"/>
          </a:p>
        </p:txBody>
      </p:sp>
      <p:sp>
        <p:nvSpPr>
          <p:cNvPr id="35" name="Text 33"/>
          <p:cNvSpPr/>
          <p:nvPr/>
        </p:nvSpPr>
        <p:spPr>
          <a:xfrm>
            <a:off x="5943600" y="36301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visualisations</a:t>
            </a:r>
            <a:endParaRPr lang="en-US" sz="1000"/>
          </a:p>
        </p:txBody>
      </p:sp>
      <p:sp>
        <p:nvSpPr>
          <p:cNvPr id="36" name="Shape 34"/>
          <p:cNvSpPr/>
          <p:nvPr/>
        </p:nvSpPr>
        <p:spPr>
          <a:xfrm>
            <a:off x="5806440" y="4069080"/>
            <a:ext cx="2743200" cy="64008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943600" y="41239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300"/>
          </a:p>
        </p:txBody>
      </p:sp>
      <p:sp>
        <p:nvSpPr>
          <p:cNvPr id="38" name="Text 36"/>
          <p:cNvSpPr/>
          <p:nvPr/>
        </p:nvSpPr>
        <p:spPr>
          <a:xfrm>
            <a:off x="5943600" y="43982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notebook environment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Results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numbers to meaning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64008" cy="1417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1682496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1005840" y="1426464"/>
            <a:ext cx="1828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relationship positive or negative?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3218688" y="1170432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18688" y="1170432"/>
            <a:ext cx="64008" cy="1417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355848" y="1682496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5584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3858768" y="1426464"/>
            <a:ext cx="1828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relationship statistically significant?</a:t>
            </a:r>
            <a:endParaRPr lang="en-US" sz="1300"/>
          </a:p>
        </p:txBody>
      </p:sp>
      <p:sp>
        <p:nvSpPr>
          <p:cNvPr id="16" name="Shape 14"/>
          <p:cNvSpPr/>
          <p:nvPr/>
        </p:nvSpPr>
        <p:spPr>
          <a:xfrm>
            <a:off x="6071616" y="1170432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71616" y="1170432"/>
            <a:ext cx="64008" cy="1417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08776" y="1682496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08776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900"/>
          </a:p>
        </p:txBody>
      </p:sp>
      <p:sp>
        <p:nvSpPr>
          <p:cNvPr id="20" name="Text 18"/>
          <p:cNvSpPr/>
          <p:nvPr/>
        </p:nvSpPr>
        <p:spPr>
          <a:xfrm>
            <a:off x="6711696" y="1426464"/>
            <a:ext cx="1828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relationship appear strong or weak?</a:t>
            </a:r>
            <a:endParaRPr lang="en-US" sz="1300"/>
          </a:p>
        </p:txBody>
      </p:sp>
      <p:sp>
        <p:nvSpPr>
          <p:cNvPr id="21" name="Shape 19"/>
          <p:cNvSpPr/>
          <p:nvPr/>
        </p:nvSpPr>
        <p:spPr>
          <a:xfrm>
            <a:off x="365760" y="2743200"/>
            <a:ext cx="8412480" cy="1508760"/>
          </a:xfrm>
          <a:prstGeom prst="rect">
            <a:avLst/>
          </a:prstGeom>
          <a:solidFill>
            <a:srgbClr val="0F1B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2852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INTERPRETATION</a:t>
            </a:r>
            <a:endParaRPr lang="en-US" sz="900"/>
          </a:p>
        </p:txBody>
      </p:sp>
      <p:sp>
        <p:nvSpPr>
          <p:cNvPr id="23" name="Shape 21"/>
          <p:cNvSpPr/>
          <p:nvPr/>
        </p:nvSpPr>
        <p:spPr>
          <a:xfrm>
            <a:off x="640080" y="3200400"/>
            <a:ext cx="7863840" cy="0"/>
          </a:xfrm>
          <a:prstGeom prst="line">
            <a:avLst/>
          </a:prstGeom>
          <a:noFill/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32918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i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"Higher-income communities tend to show higher rates of internet access — a positive and statistically significant relationship."</a:t>
            </a:r>
            <a:endParaRPr lang="en-US" sz="1500"/>
          </a:p>
        </p:txBody>
      </p:sp>
      <p:sp>
        <p:nvSpPr>
          <p:cNvPr id="25" name="Text 23"/>
          <p:cNvSpPr/>
          <p:nvPr/>
        </p:nvSpPr>
        <p:spPr>
          <a:xfrm>
            <a:off x="365760" y="432511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interpretation connects statistical findings back to the real-world context.</a:t>
            </a:r>
            <a:endParaRPr lang="en-US"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Limitations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identifies relationships, not causation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8412480" cy="749808"/>
          </a:xfrm>
          <a:prstGeom prst="rect">
            <a:avLst/>
          </a:prstGeom>
          <a:solidFill>
            <a:srgbClr val="0F1B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REMINDER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548640" y="140817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identifies relationships — it does not prove causation. Correlation is not causation.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365760" y="2084832"/>
            <a:ext cx="411480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084832"/>
            <a:ext cx="64008" cy="12984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21208" y="250545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21208" y="2505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1078992" y="2176272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Variables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1078992" y="2542032"/>
            <a:ext cx="3273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factors not included in the model may be influencing the outcome.</a:t>
            </a:r>
            <a:endParaRPr lang="en-US" sz="1150"/>
          </a:p>
        </p:txBody>
      </p:sp>
      <p:sp>
        <p:nvSpPr>
          <p:cNvPr id="15" name="Shape 13"/>
          <p:cNvSpPr/>
          <p:nvPr/>
        </p:nvSpPr>
        <p:spPr>
          <a:xfrm>
            <a:off x="4709160" y="2084832"/>
            <a:ext cx="411480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09160" y="2084832"/>
            <a:ext cx="64008" cy="12984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64608" y="2505456"/>
            <a:ext cx="457200" cy="4572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64608" y="2505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5422392" y="2176272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Bias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5422392" y="2542032"/>
            <a:ext cx="3273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Non-representative data can produce misleading or skewed results.</a:t>
            </a:r>
            <a:endParaRPr lang="en-US" sz="1150"/>
          </a:p>
        </p:txBody>
      </p:sp>
      <p:sp>
        <p:nvSpPr>
          <p:cNvPr id="21" name="Shape 19"/>
          <p:cNvSpPr/>
          <p:nvPr/>
        </p:nvSpPr>
        <p:spPr>
          <a:xfrm>
            <a:off x="365760" y="3593592"/>
            <a:ext cx="411480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3593592"/>
            <a:ext cx="64008" cy="12984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21208" y="401421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21208" y="4014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MSR</a:t>
            </a:r>
            <a:endParaRPr lang="en-US" sz="900"/>
          </a:p>
        </p:txBody>
      </p:sp>
      <p:sp>
        <p:nvSpPr>
          <p:cNvPr id="25" name="Text 23"/>
          <p:cNvSpPr/>
          <p:nvPr/>
        </p:nvSpPr>
        <p:spPr>
          <a:xfrm>
            <a:off x="1078992" y="3685032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Issues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1078992" y="4050792"/>
            <a:ext cx="3273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Inaccurate or inconsistent data collection affects model reliability.</a:t>
            </a:r>
            <a:endParaRPr lang="en-US" sz="1150"/>
          </a:p>
        </p:txBody>
      </p:sp>
      <p:sp>
        <p:nvSpPr>
          <p:cNvPr id="27" name="Shape 25"/>
          <p:cNvSpPr/>
          <p:nvPr/>
        </p:nvSpPr>
        <p:spPr>
          <a:xfrm>
            <a:off x="4709160" y="3593592"/>
            <a:ext cx="411480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09160" y="3593592"/>
            <a:ext cx="64008" cy="12984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64608" y="4014216"/>
            <a:ext cx="457200" cy="4572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64608" y="4014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</a:t>
            </a:r>
            <a:endParaRPr lang="en-US" sz="900"/>
          </a:p>
        </p:txBody>
      </p:sp>
      <p:sp>
        <p:nvSpPr>
          <p:cNvPr id="31" name="Text 29"/>
          <p:cNvSpPr/>
          <p:nvPr/>
        </p:nvSpPr>
        <p:spPr>
          <a:xfrm>
            <a:off x="5422392" y="3685032"/>
            <a:ext cx="3273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Oversimplification</a:t>
            </a:r>
            <a:endParaRPr lang="en-US" sz="1400"/>
          </a:p>
        </p:txBody>
      </p:sp>
      <p:sp>
        <p:nvSpPr>
          <p:cNvPr id="32" name="Text 30"/>
          <p:cNvSpPr/>
          <p:nvPr/>
        </p:nvSpPr>
        <p:spPr>
          <a:xfrm>
            <a:off x="5422392" y="4050792"/>
            <a:ext cx="32735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relationships may be more complex than the model captures.</a:t>
            </a:r>
            <a:endParaRPr lang="en-US" sz="11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4C"/>
          </a:solidFill>
          <a:ln w="12700">
            <a:solidFill>
              <a:srgbClr val="0F1B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78408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7315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Interpretation Matters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411480" y="685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 and communication go hand in hand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64008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21208" y="1938528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1208" y="1938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MDL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1024128" y="1325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Suggests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1024128" y="1865376"/>
            <a:ext cx="1828800" cy="0"/>
          </a:xfrm>
          <a:prstGeom prst="line">
            <a:avLst/>
          </a:prstGeom>
          <a:noFill/>
          <a:ln w="6350">
            <a:solidFill>
              <a:srgbClr val="DCE6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24128" y="1938528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explain what the statistical findings show in plain language.</a:t>
            </a:r>
            <a:endParaRPr lang="en-US" sz="1150"/>
          </a:p>
        </p:txBody>
      </p:sp>
      <p:sp>
        <p:nvSpPr>
          <p:cNvPr id="13" name="Shape 11"/>
          <p:cNvSpPr/>
          <p:nvPr/>
        </p:nvSpPr>
        <p:spPr>
          <a:xfrm>
            <a:off x="3218688" y="118872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18688" y="1188720"/>
            <a:ext cx="64008" cy="1920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374136" y="1938528"/>
            <a:ext cx="402336" cy="40233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74136" y="1938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F1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LMT</a:t>
            </a:r>
            <a:endParaRPr lang="en-US" sz="900"/>
          </a:p>
        </p:txBody>
      </p:sp>
      <p:sp>
        <p:nvSpPr>
          <p:cNvPr id="17" name="Text 15"/>
          <p:cNvSpPr/>
          <p:nvPr/>
        </p:nvSpPr>
        <p:spPr>
          <a:xfrm>
            <a:off x="3877056" y="1325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Limitations Are</a:t>
            </a:r>
            <a:endParaRPr lang="en-US" sz="1300"/>
          </a:p>
        </p:txBody>
      </p:sp>
      <p:sp>
        <p:nvSpPr>
          <p:cNvPr id="18" name="Shape 16"/>
          <p:cNvSpPr/>
          <p:nvPr/>
        </p:nvSpPr>
        <p:spPr>
          <a:xfrm>
            <a:off x="3877056" y="1865376"/>
            <a:ext cx="1828800" cy="0"/>
          </a:xfrm>
          <a:prstGeom prst="line">
            <a:avLst/>
          </a:prstGeom>
          <a:noFill/>
          <a:ln w="6350">
            <a:solidFill>
              <a:srgbClr val="DCE6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77056" y="1938528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transparent about what the model cannot tell us.</a:t>
            </a:r>
            <a:endParaRPr lang="en-US" sz="1150"/>
          </a:p>
        </p:txBody>
      </p:sp>
      <p:sp>
        <p:nvSpPr>
          <p:cNvPr id="20" name="Shape 18"/>
          <p:cNvSpPr/>
          <p:nvPr/>
        </p:nvSpPr>
        <p:spPr>
          <a:xfrm>
            <a:off x="6071616" y="118872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CE6F7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71616" y="1188720"/>
            <a:ext cx="64008" cy="1920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27064" y="1938528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27064" y="1938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6729984" y="1325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Decisions It Informs</a:t>
            </a:r>
            <a:endParaRPr lang="en-US" sz="1300"/>
          </a:p>
        </p:txBody>
      </p:sp>
      <p:sp>
        <p:nvSpPr>
          <p:cNvPr id="25" name="Shape 23"/>
          <p:cNvSpPr/>
          <p:nvPr/>
        </p:nvSpPr>
        <p:spPr>
          <a:xfrm>
            <a:off x="6729984" y="1865376"/>
            <a:ext cx="1828800" cy="0"/>
          </a:xfrm>
          <a:prstGeom prst="line">
            <a:avLst/>
          </a:prstGeom>
          <a:noFill/>
          <a:ln w="6350">
            <a:solidFill>
              <a:srgbClr val="DCE6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29984" y="1938528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>
                <a:solidFill>
                  <a:srgbClr val="5A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insights to specific decisions or policy recommendations.</a:t>
            </a:r>
            <a:endParaRPr lang="en-US" sz="1150"/>
          </a:p>
        </p:txBody>
      </p:sp>
      <p:sp>
        <p:nvSpPr>
          <p:cNvPr id="27" name="Shape 25"/>
          <p:cNvSpPr/>
          <p:nvPr/>
        </p:nvSpPr>
        <p:spPr>
          <a:xfrm>
            <a:off x="365760" y="3291840"/>
            <a:ext cx="8412480" cy="1554480"/>
          </a:xfrm>
          <a:prstGeom prst="rect">
            <a:avLst/>
          </a:prstGeom>
          <a:solidFill>
            <a:srgbClr val="0F1B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3401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900"/>
          </a:p>
        </p:txBody>
      </p:sp>
      <p:sp>
        <p:nvSpPr>
          <p:cNvPr id="29" name="Shape 27"/>
          <p:cNvSpPr/>
          <p:nvPr/>
        </p:nvSpPr>
        <p:spPr>
          <a:xfrm>
            <a:off x="640080" y="3749040"/>
            <a:ext cx="7863840" cy="0"/>
          </a:xfrm>
          <a:prstGeom prst="line">
            <a:avLst/>
          </a:prstGeom>
          <a:noFill/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0080" y="384048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>
                <a:solidFill>
                  <a:srgbClr val="F0D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"Strong communication is just as important as technical skill."</a:t>
            </a:r>
            <a:endParaRPr lang="en-US"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56032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40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2296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8275320" cy="713232"/>
          </a:xfrm>
          <a:prstGeom prst="rect">
            <a:avLst/>
          </a:prstGeom>
          <a:solidFill>
            <a:srgbClr val="1E2761"/>
          </a:solidFill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097280"/>
            <a:ext cx="621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1216152" y="1225296"/>
            <a:ext cx="0" cy="457200"/>
          </a:xfrm>
          <a:prstGeom prst="line">
            <a:avLst/>
          </a:prstGeom>
          <a:noFill/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1097280"/>
            <a:ext cx="7269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helps explain patterns in real-world data</a:t>
            </a:r>
            <a:endParaRPr lang="en-US" sz="1500"/>
          </a:p>
        </p:txBody>
      </p:sp>
      <p:sp>
        <p:nvSpPr>
          <p:cNvPr id="10" name="Shape 8"/>
          <p:cNvSpPr/>
          <p:nvPr/>
        </p:nvSpPr>
        <p:spPr>
          <a:xfrm>
            <a:off x="502920" y="1965960"/>
            <a:ext cx="8275320" cy="713232"/>
          </a:xfrm>
          <a:prstGeom prst="rect">
            <a:avLst/>
          </a:prstGeom>
          <a:solidFill>
            <a:srgbClr val="1E2761"/>
          </a:solidFill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1965960"/>
            <a:ext cx="621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1216152" y="2093976"/>
            <a:ext cx="0" cy="457200"/>
          </a:xfrm>
          <a:prstGeom prst="line">
            <a:avLst/>
          </a:prstGeom>
          <a:noFill/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71600" y="1965960"/>
            <a:ext cx="7269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matters more than mathematical complexity</a:t>
            </a:r>
            <a:endParaRPr lang="en-US" sz="1500"/>
          </a:p>
        </p:txBody>
      </p:sp>
      <p:sp>
        <p:nvSpPr>
          <p:cNvPr id="14" name="Shape 12"/>
          <p:cNvSpPr/>
          <p:nvPr/>
        </p:nvSpPr>
        <p:spPr>
          <a:xfrm>
            <a:off x="502920" y="2834640"/>
            <a:ext cx="8275320" cy="713232"/>
          </a:xfrm>
          <a:prstGeom prst="rect">
            <a:avLst/>
          </a:prstGeom>
          <a:solidFill>
            <a:srgbClr val="1E2761"/>
          </a:solidFill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2834640"/>
            <a:ext cx="621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/>
          </a:p>
        </p:txBody>
      </p:sp>
      <p:sp>
        <p:nvSpPr>
          <p:cNvPr id="16" name="Shape 14"/>
          <p:cNvSpPr/>
          <p:nvPr/>
        </p:nvSpPr>
        <p:spPr>
          <a:xfrm>
            <a:off x="1216152" y="2962656"/>
            <a:ext cx="0" cy="457200"/>
          </a:xfrm>
          <a:prstGeom prst="line">
            <a:avLst/>
          </a:prstGeom>
          <a:noFill/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371600" y="2834640"/>
            <a:ext cx="7269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support insight, not absolute truth</a:t>
            </a:r>
            <a:endParaRPr lang="en-US" sz="1500"/>
          </a:p>
        </p:txBody>
      </p:sp>
      <p:sp>
        <p:nvSpPr>
          <p:cNvPr id="18" name="Shape 16"/>
          <p:cNvSpPr/>
          <p:nvPr/>
        </p:nvSpPr>
        <p:spPr>
          <a:xfrm>
            <a:off x="502920" y="3703320"/>
            <a:ext cx="8275320" cy="713232"/>
          </a:xfrm>
          <a:prstGeom prst="rect">
            <a:avLst/>
          </a:prstGeom>
          <a:solidFill>
            <a:srgbClr val="1E2761"/>
          </a:solidFill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3703320"/>
            <a:ext cx="6217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/>
          </a:p>
        </p:txBody>
      </p:sp>
      <p:sp>
        <p:nvSpPr>
          <p:cNvPr id="20" name="Shape 18"/>
          <p:cNvSpPr/>
          <p:nvPr/>
        </p:nvSpPr>
        <p:spPr>
          <a:xfrm>
            <a:off x="1216152" y="3831336"/>
            <a:ext cx="0" cy="457200"/>
          </a:xfrm>
          <a:prstGeom prst="line">
            <a:avLst/>
          </a:prstGeom>
          <a:noFill/>
          <a:ln w="6350">
            <a:solidFill>
              <a:srgbClr val="2A3F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371600" y="3703320"/>
            <a:ext cx="7269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critical — always consider the limitations</a:t>
            </a:r>
            <a:endParaRPr lang="en-US" sz="1500"/>
          </a:p>
        </p:txBody>
      </p:sp>
      <p:sp>
        <p:nvSpPr>
          <p:cNvPr id="22" name="Shape 2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4828032"/>
            <a:ext cx="841248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for Real-World Decision Making  |  Applied Data Science Workshop Series  |  Week 2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13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Regression for Real-World Decision Making — Session 2</dc:title>
  <dc:subject>Applied Data Science Workshop Series</dc:subject>
  <dc:creator>Kelly Ann Campbell</dc:creator>
  <cp:revision>1</cp:revision>
  <dcterms:created xsi:type="dcterms:W3CDTF">2026-05-21T01:11:47Z</dcterms:created>
  <dcterms:modified xsi:type="dcterms:W3CDTF">2026-06-09T17:02:56Z</dcterms:modified>
</cp:coreProperties>
</file>