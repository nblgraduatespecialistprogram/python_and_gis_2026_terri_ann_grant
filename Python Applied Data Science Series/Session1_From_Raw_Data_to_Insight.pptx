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92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RRIANN GRANT" userId="91aef3bf47478cf9" providerId="LiveId" clId="{9DAA915B-9C4B-4F01-916B-D87FBE349B01}"/>
    <pc:docChg chg="custSel modSld">
      <pc:chgData name="TERRIANN GRANT" userId="91aef3bf47478cf9" providerId="LiveId" clId="{9DAA915B-9C4B-4F01-916B-D87FBE349B01}" dt="2026-05-21T01:06:23.869" v="184" actId="20577"/>
      <pc:docMkLst>
        <pc:docMk/>
      </pc:docMkLst>
      <pc:sldChg chg="modSp mod">
        <pc:chgData name="TERRIANN GRANT" userId="91aef3bf47478cf9" providerId="LiveId" clId="{9DAA915B-9C4B-4F01-916B-D87FBE349B01}" dt="2026-05-21T00:54:03.629" v="154" actId="20577"/>
        <pc:sldMkLst>
          <pc:docMk/>
          <pc:sldMk cId="0" sldId="256"/>
        </pc:sldMkLst>
        <pc:spChg chg="mod">
          <ac:chgData name="TERRIANN GRANT" userId="91aef3bf47478cf9" providerId="LiveId" clId="{9DAA915B-9C4B-4F01-916B-D87FBE349B01}" dt="2026-05-21T00:54:03.629" v="154" actId="20577"/>
          <ac:spMkLst>
            <pc:docMk/>
            <pc:sldMk cId="0" sldId="256"/>
            <ac:spMk id="9" creationId="{00000000-0000-0000-0000-000000000000}"/>
          </ac:spMkLst>
        </pc:spChg>
      </pc:sldChg>
      <pc:sldChg chg="modSp mod">
        <pc:chgData name="TERRIANN GRANT" userId="91aef3bf47478cf9" providerId="LiveId" clId="{9DAA915B-9C4B-4F01-916B-D87FBE349B01}" dt="2026-05-21T00:57:12.775" v="181" actId="20577"/>
        <pc:sldMkLst>
          <pc:docMk/>
          <pc:sldMk cId="0" sldId="258"/>
        </pc:sldMkLst>
        <pc:spChg chg="mod">
          <ac:chgData name="TERRIANN GRANT" userId="91aef3bf47478cf9" providerId="LiveId" clId="{9DAA915B-9C4B-4F01-916B-D87FBE349B01}" dt="2026-05-21T00:57:12.775" v="181" actId="20577"/>
          <ac:spMkLst>
            <pc:docMk/>
            <pc:sldMk cId="0" sldId="258"/>
            <ac:spMk id="16" creationId="{00000000-0000-0000-0000-000000000000}"/>
          </ac:spMkLst>
        </pc:spChg>
      </pc:sldChg>
      <pc:sldChg chg="modSp mod">
        <pc:chgData name="TERRIANN GRANT" userId="91aef3bf47478cf9" providerId="LiveId" clId="{9DAA915B-9C4B-4F01-916B-D87FBE349B01}" dt="2026-05-21T01:06:23.869" v="184" actId="20577"/>
        <pc:sldMkLst>
          <pc:docMk/>
          <pc:sldMk cId="0" sldId="264"/>
        </pc:sldMkLst>
        <pc:spChg chg="mod">
          <ac:chgData name="TERRIANN GRANT" userId="91aef3bf47478cf9" providerId="LiveId" clId="{9DAA915B-9C4B-4F01-916B-D87FBE349B01}" dt="2026-05-21T01:06:23.869" v="184" actId="20577"/>
          <ac:spMkLst>
            <pc:docMk/>
            <pc:sldMk cId="0" sldId="264"/>
            <ac:spMk id="2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4461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workshop is designed to move beyond simply learning Python syntax. The goal is to understand how analysts approach real problems using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project will serve as the anchor dataset across multiple workshops.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that visualisation is about understanding patterns quickly — charts let us see what tables can't.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56032" y="0"/>
            <a:ext cx="54864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949440" y="-1097280"/>
            <a:ext cx="3200400" cy="32004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2A3F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06640" y="-594360"/>
            <a:ext cx="2194560" cy="2194560"/>
          </a:xfrm>
          <a:prstGeom prst="ellipse">
            <a:avLst/>
          </a:prstGeom>
          <a:solidFill>
            <a:srgbClr val="2A3F7E"/>
          </a:solidFill>
          <a:ln w="12700">
            <a:solidFill>
              <a:srgbClr val="2A3F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59436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DATA SCIENCE WORKSHOP SERIES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024128"/>
            <a:ext cx="548640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097280"/>
            <a:ext cx="7498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Raw Data</a:t>
            </a:r>
            <a:endParaRPr lang="en-US" sz="5200" dirty="0"/>
          </a:p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Insight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566928" y="32232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: Terri-Ann Grant</a:t>
            </a:r>
          </a:p>
          <a:p>
            <a:pPr marL="0" indent="0" algn="l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Graduate Specialist</a:t>
            </a:r>
          </a:p>
          <a:p>
            <a:pPr marL="0" indent="0" algn="l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terrianngrant@scarletmail.rutgers.edu  </a:t>
            </a:r>
          </a:p>
        </p:txBody>
      </p:sp>
      <p:sp>
        <p:nvSpPr>
          <p:cNvPr id="10" name="Shape 8"/>
          <p:cNvSpPr/>
          <p:nvPr/>
        </p:nvSpPr>
        <p:spPr>
          <a:xfrm>
            <a:off x="502920" y="3977640"/>
            <a:ext cx="1645920" cy="347472"/>
          </a:xfrm>
          <a:prstGeom prst="roundRect">
            <a:avLst>
              <a:gd name="adj" fmla="val 15789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39776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4828032"/>
            <a:ext cx="841248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 Data Scientist  |  Applied Data Science Workshop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B4C"/>
          </a:solidFill>
          <a:ln w="12700">
            <a:solidFill>
              <a:srgbClr val="0F1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78408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7315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Goals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85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today’s session, participants will: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566928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170432"/>
            <a:ext cx="64008" cy="30175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1353312"/>
            <a:ext cx="5321808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200"/>
              </a:spcAft>
              <a:buSzPct val="100000"/>
              <a:buChar char="•"/>
            </a:pPr>
            <a:r>
              <a:rPr lang="en-US" sz="13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full data analysis workflow</a:t>
            </a:r>
            <a:endParaRPr lang="en-US" sz="1350" dirty="0"/>
          </a:p>
          <a:p>
            <a:pPr marL="342900" indent="-342900" algn="l">
              <a:spcAft>
                <a:spcPts val="200"/>
              </a:spcAft>
              <a:buSzPct val="100000"/>
              <a:buChar char="•"/>
            </a:pPr>
            <a:r>
              <a:rPr lang="en-US" sz="13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with a real-world dataset focused on digital inequity</a:t>
            </a:r>
            <a:endParaRPr lang="en-US" sz="1350" dirty="0"/>
          </a:p>
          <a:p>
            <a:pPr marL="342900" indent="-342900" algn="l">
              <a:spcAft>
                <a:spcPts val="200"/>
              </a:spcAft>
              <a:buSzPct val="100000"/>
              <a:buChar char="•"/>
            </a:pPr>
            <a:r>
              <a:rPr lang="en-US" sz="13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exploratory data analysis (EDA)</a:t>
            </a:r>
            <a:endParaRPr lang="en-US" sz="1350" dirty="0"/>
          </a:p>
          <a:p>
            <a:pPr marL="342900" indent="-342900" algn="l">
              <a:spcAft>
                <a:spcPts val="200"/>
              </a:spcAft>
              <a:buSzPct val="100000"/>
              <a:buChar char="•"/>
            </a:pPr>
            <a:r>
              <a:rPr lang="en-US" sz="13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introductory visualizations</a:t>
            </a:r>
            <a:endParaRPr lang="en-US" sz="1350" dirty="0"/>
          </a:p>
          <a:p>
            <a:pPr marL="342900" indent="-342900" algn="l">
              <a:spcAft>
                <a:spcPts val="200"/>
              </a:spcAft>
              <a:buSzPct val="100000"/>
              <a:buChar char="•"/>
            </a:pPr>
            <a:r>
              <a:rPr lang="en-US" sz="13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meaningful insights from data</a:t>
            </a:r>
            <a:endParaRPr lang="en-US" sz="1350" dirty="0"/>
          </a:p>
          <a:p>
            <a:pPr marL="342900" indent="-342900" algn="l">
              <a:spcAft>
                <a:spcPts val="200"/>
              </a:spcAft>
              <a:buSzPct val="100000"/>
              <a:buChar char="•"/>
            </a:pPr>
            <a:r>
              <a:rPr lang="en-US" sz="13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thinking about how analysis supports decision-making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170432"/>
            <a:ext cx="2514600" cy="3703320"/>
          </a:xfrm>
          <a:prstGeom prst="rect">
            <a:avLst/>
          </a:prstGeom>
          <a:solidFill>
            <a:srgbClr val="0F1B4C"/>
          </a:solidFill>
          <a:ln w="12700">
            <a:solidFill>
              <a:srgbClr val="0F1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263640" y="1170432"/>
            <a:ext cx="25146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63640" y="1353312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46520" y="2194560"/>
            <a:ext cx="384048" cy="38404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46520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903720" y="223113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46520" y="2724912"/>
            <a:ext cx="384048" cy="38404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46520" y="2724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903720" y="276148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46520" y="3255264"/>
            <a:ext cx="384048" cy="38404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46520" y="3255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903720" y="329184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Finding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46520" y="3785616"/>
            <a:ext cx="384048" cy="38404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46520" y="3785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903720" y="382219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Generation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46520" y="4315968"/>
            <a:ext cx="384048" cy="38404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46520" y="4315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903720" y="435254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B4C"/>
          </a:solidFill>
          <a:ln w="12700">
            <a:solidFill>
              <a:srgbClr val="0F1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78408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7315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Applied Data Science Matters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85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increasingly rely on data-driven decision making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5A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now used to: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265176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64008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12064" y="1837944"/>
            <a:ext cx="402336" cy="40233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12064" y="18379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33272" y="1691640"/>
            <a:ext cx="1874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 Resources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18688" y="1508760"/>
            <a:ext cx="265176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18688" y="1508760"/>
            <a:ext cx="64008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364992" y="1837944"/>
            <a:ext cx="402336" cy="40233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364992" y="18379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886200" y="1691640"/>
            <a:ext cx="1874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marginalized areas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834640"/>
            <a:ext cx="265176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5760" y="2834640"/>
            <a:ext cx="64008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12064" y="3163824"/>
            <a:ext cx="402336" cy="40233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12064" y="31638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33272" y="3017520"/>
            <a:ext cx="1874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Policy Decisions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18688" y="2834640"/>
            <a:ext cx="265176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18688" y="2834640"/>
            <a:ext cx="64008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364992" y="3163824"/>
            <a:ext cx="402336" cy="40233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364992" y="31638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886200" y="3017520"/>
            <a:ext cx="1874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Operational Planning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080760" y="1170432"/>
            <a:ext cx="2788920" cy="3703320"/>
          </a:xfrm>
          <a:prstGeom prst="rect">
            <a:avLst/>
          </a:prstGeom>
          <a:solidFill>
            <a:srgbClr val="0F1B4C"/>
          </a:solidFill>
          <a:ln w="12700">
            <a:solidFill>
              <a:srgbClr val="0F1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080760" y="1170432"/>
            <a:ext cx="27889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080760" y="1335024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355080" y="1737360"/>
            <a:ext cx="2240280" cy="0"/>
          </a:xfrm>
          <a:prstGeom prst="line">
            <a:avLst/>
          </a:prstGeom>
          <a:noFill/>
          <a:ln w="6350">
            <a:solidFill>
              <a:srgbClr val="2A3F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263640" y="182880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0D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“The value is not just in writing code.”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263640" y="2907792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is in understanding patterns and communicating insight.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B4C"/>
          </a:solidFill>
          <a:ln w="12700">
            <a:solidFill>
              <a:srgbClr val="0F1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78408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7315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Digital Inequity in New Jersey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85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anchor dataset across the workshop series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8412480" cy="804672"/>
          </a:xfrm>
          <a:prstGeom prst="rect">
            <a:avLst/>
          </a:prstGeom>
          <a:solidFill>
            <a:srgbClr val="0F1B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Question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factors are associated with disparities in internet access across New Jersey communities?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103120"/>
            <a:ext cx="393192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2103120"/>
            <a:ext cx="64008" cy="2743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66928" y="224028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INCLUDES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" y="2633472"/>
            <a:ext cx="3584448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household income</a:t>
            </a:r>
            <a:endParaRPr lang="en-US" sz="14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Broadband access rates</a:t>
            </a:r>
            <a:endParaRPr lang="en-US" sz="14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indicators</a:t>
            </a:r>
            <a:endParaRPr lang="en-US" sz="14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information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480560" y="2103120"/>
            <a:ext cx="4297680" cy="2743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480560" y="2103120"/>
            <a:ext cx="429768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09160" y="22402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DATASET?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36592" y="2752344"/>
            <a:ext cx="347472" cy="34747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36592" y="27523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93792" y="2697480"/>
            <a:ext cx="3337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relevance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09160" y="3337560"/>
            <a:ext cx="3840480" cy="0"/>
          </a:xfrm>
          <a:prstGeom prst="line">
            <a:avLst/>
          </a:prstGeom>
          <a:noFill/>
          <a:ln w="6350">
            <a:solidFill>
              <a:srgbClr val="2A3F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36592" y="3502152"/>
            <a:ext cx="347472" cy="34747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36592" y="3502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93792" y="3447288"/>
            <a:ext cx="3337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implications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4087368"/>
            <a:ext cx="3840480" cy="0"/>
          </a:xfrm>
          <a:prstGeom prst="line">
            <a:avLst/>
          </a:prstGeom>
          <a:noFill/>
          <a:ln w="6350">
            <a:solidFill>
              <a:srgbClr val="2A3F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736592" y="4251960"/>
            <a:ext cx="347472" cy="34747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36592" y="42519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93792" y="4197096"/>
            <a:ext cx="3337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Data Science + GIS + Public Analysis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B4C"/>
          </a:solidFill>
          <a:ln w="12700">
            <a:solidFill>
              <a:srgbClr val="0F1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78408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7315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Analysis Workflow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85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approach to every analysis project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388620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30352" y="1527048"/>
            <a:ext cx="438912" cy="43891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30352" y="15270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78992" y="13258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Problem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78992" y="1746504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question are we trying to answer?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92040" y="1234440"/>
            <a:ext cx="388620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056632" y="1527048"/>
            <a:ext cx="438912" cy="43891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56632" y="15270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605272" y="13258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Data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605272" y="1746504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variables are available?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478024"/>
            <a:ext cx="388620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30352" y="2770632"/>
            <a:ext cx="438912" cy="43891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30352" y="27706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78992" y="2569464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Prepare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78992" y="2990088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or inconsistent values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92040" y="2478024"/>
            <a:ext cx="388620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056632" y="2770632"/>
            <a:ext cx="438912" cy="43891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56632" y="27706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605272" y="2569464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the Data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605272" y="2990088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patterns and relationships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3721608"/>
            <a:ext cx="388620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30352" y="4014216"/>
            <a:ext cx="438912" cy="43891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30352" y="40142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78992" y="381304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Insights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78992" y="4233672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analysis suggest?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92040" y="3721608"/>
            <a:ext cx="388620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056632" y="4014216"/>
            <a:ext cx="438912" cy="43891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056632" y="40142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605272" y="381304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Results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605272" y="4233672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findings clearly to stakeholders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B4C"/>
          </a:solidFill>
          <a:ln w="12700">
            <a:solidFill>
              <a:srgbClr val="0F1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78408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7315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Exploratory Data Analysis (EDA)?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85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 of any rigorous data project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5120640" cy="795528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64008" cy="7955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21208" y="1435608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21208" y="14356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24128" y="1307592"/>
            <a:ext cx="4352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Structure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24128" y="1664208"/>
            <a:ext cx="43525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what variables you have and their types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148840"/>
            <a:ext cx="5120640" cy="795528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2148840"/>
            <a:ext cx="64008" cy="7955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21208" y="2350008"/>
            <a:ext cx="402336" cy="40233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21208" y="23500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024128" y="2221992"/>
            <a:ext cx="4352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Patterns &amp; Anomalies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24128" y="2578608"/>
            <a:ext cx="43525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outliers, trends, and unusual values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063240"/>
            <a:ext cx="5120640" cy="795528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5760" y="3063240"/>
            <a:ext cx="64008" cy="7955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21208" y="3264408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21208" y="3264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24128" y="3136392"/>
            <a:ext cx="4352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Relationships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24128" y="3493008"/>
            <a:ext cx="43525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how variables interact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977640"/>
            <a:ext cx="5120640" cy="795528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65760" y="3977640"/>
            <a:ext cx="64008" cy="7955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21208" y="4178808"/>
            <a:ext cx="402336" cy="40233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21208" y="4178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024128" y="4050792"/>
            <a:ext cx="4352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Hypotheses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24128" y="4407408"/>
            <a:ext cx="43525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questions to investigate further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669280" y="1234440"/>
            <a:ext cx="3108960" cy="3657600"/>
          </a:xfrm>
          <a:prstGeom prst="rect">
            <a:avLst/>
          </a:prstGeom>
          <a:solidFill>
            <a:srgbClr val="0F1B4C"/>
          </a:solidFill>
          <a:ln w="12700">
            <a:solidFill>
              <a:srgbClr val="0F1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669280" y="1234440"/>
            <a:ext cx="310896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669280" y="13990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EDA MATTERS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897880" y="1828800"/>
            <a:ext cx="2651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“Good EDA often determines the quality of the entire project.”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035040" y="3566160"/>
            <a:ext cx="2377440" cy="0"/>
          </a:xfrm>
          <a:prstGeom prst="line">
            <a:avLst/>
          </a:prstGeom>
          <a:noFill/>
          <a:ln w="6350">
            <a:solidFill>
              <a:srgbClr val="2A3F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897880" y="370332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drives better hypotheses, cleaner data, and more defensible conclusions.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B4C"/>
          </a:solidFill>
          <a:ln w="12700">
            <a:solidFill>
              <a:srgbClr val="0F1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78408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7315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Activities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85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collaborative notebook exercise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5029200" cy="37033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170432"/>
            <a:ext cx="64008" cy="3703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1307592"/>
            <a:ext cx="4681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ACTIVITIES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66928" y="1755648"/>
            <a:ext cx="438912" cy="43891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66928" y="17556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15568" y="1719072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dataset into a Pandas DataFrame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" y="2267712"/>
            <a:ext cx="438912" cy="43891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66928" y="22677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15568" y="2231136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variables and data types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6928" y="2779776"/>
            <a:ext cx="438912" cy="43891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66928" y="27797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15568" y="2743200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summary statistics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6928" y="3291840"/>
            <a:ext cx="438912" cy="43891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66928" y="32918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15568" y="3255264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for missing values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66928" y="3803904"/>
            <a:ext cx="438912" cy="43891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66928" y="38039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15568" y="3767328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initial visualizations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66928" y="4315968"/>
            <a:ext cx="438912" cy="43891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66928" y="43159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15568" y="4279392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visible trends with the group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577840" y="1170432"/>
            <a:ext cx="3200400" cy="3703320"/>
          </a:xfrm>
          <a:prstGeom prst="rect">
            <a:avLst/>
          </a:prstGeom>
          <a:solidFill>
            <a:srgbClr val="0F1B4C"/>
          </a:solidFill>
          <a:ln w="12700">
            <a:solidFill>
              <a:srgbClr val="0F1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577840" y="1170432"/>
            <a:ext cx="32004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577840" y="133502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806440" y="1764792"/>
            <a:ext cx="2743200" cy="64008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6350">
            <a:solidFill>
              <a:srgbClr val="2A3F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943600" y="181965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943600" y="209397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 &amp; manipulation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806440" y="2532888"/>
            <a:ext cx="2743200" cy="64008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6350">
            <a:solidFill>
              <a:srgbClr val="2A3F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943600" y="25877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943600" y="28620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plotting library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806440" y="3300984"/>
            <a:ext cx="2743200" cy="64008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6350">
            <a:solidFill>
              <a:srgbClr val="2A3F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943600" y="33558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943600" y="36301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visualisations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806440" y="4069080"/>
            <a:ext cx="2743200" cy="64008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6350">
            <a:solidFill>
              <a:srgbClr val="2A3F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943600" y="41239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943600" y="439826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notebook environment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B4C"/>
          </a:solidFill>
          <a:ln w="12700">
            <a:solidFill>
              <a:srgbClr val="0F1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78408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7315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 Examples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85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participants will produce in the Colab notebook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15568"/>
            <a:ext cx="4434840" cy="288036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115568"/>
            <a:ext cx="4069080" cy="28803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74320" y="4041648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Scatterplot: Income vs. Broadband Access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4846320" y="4041648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Histogram: Distribution of Access Rates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274320" y="4370832"/>
            <a:ext cx="8641080" cy="566928"/>
          </a:xfrm>
          <a:prstGeom prst="rect">
            <a:avLst/>
          </a:prstGeom>
          <a:solidFill>
            <a:srgbClr val="0F1B4C"/>
          </a:solidFill>
          <a:ln w="12700">
            <a:solidFill>
              <a:srgbClr val="0F1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411480" y="4370832"/>
            <a:ext cx="8366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Questions  ·  Do higher-income areas show greater internet access?  ·  Which communities appear underserved?  ·  Are there visible disparities?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B4C"/>
          </a:solidFill>
          <a:ln w="12700">
            <a:solidFill>
              <a:srgbClr val="0F1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78408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7315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Charts to Insights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85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alone is not enough — interpretation is where value is created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170432"/>
            <a:ext cx="64008" cy="1417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1682496"/>
            <a:ext cx="384048" cy="38404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682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05840" y="1426464"/>
            <a:ext cx="18288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stands out?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18688" y="1170432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18688" y="1170432"/>
            <a:ext cx="64008" cy="1417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355848" y="1682496"/>
            <a:ext cx="384048" cy="38404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55848" y="1682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58768" y="1426464"/>
            <a:ext cx="18288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might this pattern exist?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71616" y="1170432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071616" y="1170432"/>
            <a:ext cx="64008" cy="1417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08776" y="1682496"/>
            <a:ext cx="384048" cy="38404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08776" y="1682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711696" y="1426464"/>
            <a:ext cx="18288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info would help?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2743200"/>
            <a:ext cx="8412480" cy="1508760"/>
          </a:xfrm>
          <a:prstGeom prst="rect">
            <a:avLst/>
          </a:prstGeom>
          <a:solidFill>
            <a:srgbClr val="0F1B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080" y="28529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INSIGHT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0080" y="3200400"/>
            <a:ext cx="7863840" cy="0"/>
          </a:xfrm>
          <a:prstGeom prst="line">
            <a:avLst/>
          </a:prstGeom>
          <a:noFill/>
          <a:ln w="6350">
            <a:solidFill>
              <a:srgbClr val="2A3F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0080" y="3291840"/>
            <a:ext cx="7863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“Communities with lower median income levels appear to have significantly lower broadband access rates, suggesting income is a key predictor of digital inequity across NJ.”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65760" y="432511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5A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from description to explanation is the core skill of a data analyst.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B4C"/>
          </a:solidFill>
          <a:ln w="12700">
            <a:solidFill>
              <a:srgbClr val="0F1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78408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7315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Implications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85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digital inequity analysis matters beyond the classroom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16152"/>
            <a:ext cx="4114800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216152"/>
            <a:ext cx="64008" cy="16276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21208" y="1810512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21208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3000" y="13533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Access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1746504"/>
            <a:ext cx="32186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access determines participation in online learning and remote schooling.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1216152"/>
            <a:ext cx="4114800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09160" y="1216152"/>
            <a:ext cx="64008" cy="16276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864608" y="1810512"/>
            <a:ext cx="457200" cy="45720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64608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WRK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0" y="13533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Work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0" y="1746504"/>
            <a:ext cx="32186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Broadband gaps limit employment opportunities for rural and low-income households.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044952"/>
            <a:ext cx="4114800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5760" y="3044952"/>
            <a:ext cx="64008" cy="16276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21208" y="3639312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21208" y="3639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" y="31821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Access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3575304"/>
            <a:ext cx="32186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Telehealth and digital health services require reliable high-speed internet.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3044952"/>
            <a:ext cx="4114800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09160" y="3044952"/>
            <a:ext cx="64008" cy="16276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864608" y="3639312"/>
            <a:ext cx="457200" cy="45720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64608" y="3639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86400" y="31821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Participation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86400" y="3575304"/>
            <a:ext cx="32186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E-commerce, banking, and civic services are increasingly online-first.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4663440"/>
            <a:ext cx="8412480" cy="256032"/>
          </a:xfrm>
          <a:prstGeom prst="rect">
            <a:avLst/>
          </a:prstGeom>
          <a:solidFill>
            <a:srgbClr val="0F1B4C"/>
          </a:solidFill>
          <a:ln w="12700">
            <a:solidFill>
              <a:srgbClr val="0F1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2920" y="4663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can support policy planning, resource allocation, and infrastructure investment.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56032" y="0"/>
            <a:ext cx="54864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8229600" cy="0"/>
          </a:xfrm>
          <a:prstGeom prst="line">
            <a:avLst/>
          </a:prstGeom>
          <a:noFill/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097280"/>
            <a:ext cx="8275320" cy="621792"/>
          </a:xfrm>
          <a:prstGeom prst="rect">
            <a:avLst/>
          </a:prstGeom>
          <a:solidFill>
            <a:srgbClr val="1E2761"/>
          </a:solidFill>
          <a:ln w="6350">
            <a:solidFill>
              <a:srgbClr val="2A3F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09728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216152" y="1207008"/>
            <a:ext cx="0" cy="402336"/>
          </a:xfrm>
          <a:prstGeom prst="line">
            <a:avLst/>
          </a:prstGeom>
          <a:noFill/>
          <a:ln w="6350">
            <a:solidFill>
              <a:srgbClr val="2A3F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371600" y="1097280"/>
            <a:ext cx="7269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is a structured workflow — not just writing code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1847088"/>
            <a:ext cx="8275320" cy="621792"/>
          </a:xfrm>
          <a:prstGeom prst="rect">
            <a:avLst/>
          </a:prstGeom>
          <a:solidFill>
            <a:srgbClr val="1E2761"/>
          </a:solidFill>
          <a:ln w="6350">
            <a:solidFill>
              <a:srgbClr val="2A3F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184708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216152" y="1956816"/>
            <a:ext cx="0" cy="402336"/>
          </a:xfrm>
          <a:prstGeom prst="line">
            <a:avLst/>
          </a:prstGeom>
          <a:noFill/>
          <a:ln w="6350">
            <a:solidFill>
              <a:srgbClr val="2A3F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371600" y="1847088"/>
            <a:ext cx="7269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is the foundation of every good project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2596896"/>
            <a:ext cx="8275320" cy="621792"/>
          </a:xfrm>
          <a:prstGeom prst="rect">
            <a:avLst/>
          </a:prstGeom>
          <a:solidFill>
            <a:srgbClr val="1E2761"/>
          </a:solidFill>
          <a:ln w="6350">
            <a:solidFill>
              <a:srgbClr val="2A3F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" y="259689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216152" y="2706624"/>
            <a:ext cx="0" cy="402336"/>
          </a:xfrm>
          <a:prstGeom prst="line">
            <a:avLst/>
          </a:prstGeom>
          <a:noFill/>
          <a:ln w="6350">
            <a:solidFill>
              <a:srgbClr val="2A3F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371600" y="2596896"/>
            <a:ext cx="7269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 accelerates understanding and communication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" y="3346704"/>
            <a:ext cx="8275320" cy="621792"/>
          </a:xfrm>
          <a:prstGeom prst="rect">
            <a:avLst/>
          </a:prstGeom>
          <a:solidFill>
            <a:srgbClr val="1E2761"/>
          </a:solidFill>
          <a:ln w="6350">
            <a:solidFill>
              <a:srgbClr val="2A3F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4360" y="334670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216152" y="3456432"/>
            <a:ext cx="0" cy="402336"/>
          </a:xfrm>
          <a:prstGeom prst="line">
            <a:avLst/>
          </a:prstGeom>
          <a:noFill/>
          <a:ln w="6350">
            <a:solidFill>
              <a:srgbClr val="2A3F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371600" y="3346704"/>
            <a:ext cx="7269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data reveals meaningful, actionable patterns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02920" y="4096512"/>
            <a:ext cx="8275320" cy="621792"/>
          </a:xfrm>
          <a:prstGeom prst="rect">
            <a:avLst/>
          </a:prstGeom>
          <a:solidFill>
            <a:srgbClr val="1E2761"/>
          </a:solidFill>
          <a:ln w="6350">
            <a:solidFill>
              <a:srgbClr val="2A3F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94360" y="409651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216152" y="4206240"/>
            <a:ext cx="0" cy="402336"/>
          </a:xfrm>
          <a:prstGeom prst="line">
            <a:avLst/>
          </a:prstGeom>
          <a:noFill/>
          <a:ln w="6350">
            <a:solidFill>
              <a:srgbClr val="2A3F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371600" y="4096512"/>
            <a:ext cx="7269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should always support better decision-making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65760" y="4828032"/>
            <a:ext cx="841248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Data to Insight  |  Applied Data Science Workshop Series  |  Week 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755</Words>
  <Application>Microsoft Office PowerPoint</Application>
  <PresentationFormat>On-screen Show (16:9)</PresentationFormat>
  <Paragraphs>176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Raw Data to Insight — Session 1</dc:title>
  <dc:subject>Applied Data Science Workshop Series</dc:subject>
  <dc:creator>Kelly Ann Campbell</dc:creator>
  <cp:lastModifiedBy>TERRIANN GRANT</cp:lastModifiedBy>
  <cp:revision>1</cp:revision>
  <dcterms:created xsi:type="dcterms:W3CDTF">2026-05-20T23:20:02Z</dcterms:created>
  <dcterms:modified xsi:type="dcterms:W3CDTF">2026-05-21T01:06:31Z</dcterms:modified>
</cp:coreProperties>
</file>