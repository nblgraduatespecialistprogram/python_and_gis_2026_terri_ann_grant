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402055-5AF0-4D3D-94D8-DEC8F57B7836}" v="8" dt="2026-05-28T21:32:44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RIANN GRANT" userId="91aef3bf47478cf9" providerId="LiveId" clId="{9DAA915B-9C4B-4F01-916B-D87FBE349B01}"/>
    <pc:docChg chg="undo custSel addSld modSld">
      <pc:chgData name="TERRIANN GRANT" userId="91aef3bf47478cf9" providerId="LiveId" clId="{9DAA915B-9C4B-4F01-916B-D87FBE349B01}" dt="2026-05-29T15:43:36.090" v="84" actId="20577"/>
      <pc:docMkLst>
        <pc:docMk/>
      </pc:docMkLst>
      <pc:sldChg chg="addSp delSp modSp mod">
        <pc:chgData name="TERRIANN GRANT" userId="91aef3bf47478cf9" providerId="LiveId" clId="{9DAA915B-9C4B-4F01-916B-D87FBE349B01}" dt="2026-05-28T05:17:59.652" v="40" actId="1076"/>
        <pc:sldMkLst>
          <pc:docMk/>
          <pc:sldMk cId="0" sldId="256"/>
        </pc:sldMkLst>
        <pc:spChg chg="del">
          <ac:chgData name="TERRIANN GRANT" userId="91aef3bf47478cf9" providerId="LiveId" clId="{9DAA915B-9C4B-4F01-916B-D87FBE349B01}" dt="2026-05-28T05:14:47.047" v="10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TERRIANN GRANT" userId="91aef3bf47478cf9" providerId="LiveId" clId="{9DAA915B-9C4B-4F01-916B-D87FBE349B01}" dt="2026-05-28T05:14:53.494" v="13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TERRIANN GRANT" userId="91aef3bf47478cf9" providerId="LiveId" clId="{9DAA915B-9C4B-4F01-916B-D87FBE349B01}" dt="2026-05-28T05:15:04.062" v="15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TERRIANN GRANT" userId="91aef3bf47478cf9" providerId="LiveId" clId="{9DAA915B-9C4B-4F01-916B-D87FBE349B01}" dt="2026-05-28T05:15:07.470" v="16" actId="478"/>
          <ac:spMkLst>
            <pc:docMk/>
            <pc:sldMk cId="0" sldId="256"/>
            <ac:spMk id="8" creationId="{00000000-0000-0000-0000-000000000000}"/>
          </ac:spMkLst>
        </pc:spChg>
        <pc:spChg chg="mod">
          <ac:chgData name="TERRIANN GRANT" userId="91aef3bf47478cf9" providerId="LiveId" clId="{9DAA915B-9C4B-4F01-916B-D87FBE349B01}" dt="2026-05-28T05:16:40.908" v="26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TERRIANN GRANT" userId="91aef3bf47478cf9" providerId="LiveId" clId="{9DAA915B-9C4B-4F01-916B-D87FBE349B01}" dt="2026-05-28T05:17:25.702" v="34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TERRIANN GRANT" userId="91aef3bf47478cf9" providerId="LiveId" clId="{9DAA915B-9C4B-4F01-916B-D87FBE349B01}" dt="2026-05-28T05:16:48.377" v="28" actId="1076"/>
          <ac:spMkLst>
            <pc:docMk/>
            <pc:sldMk cId="0" sldId="256"/>
            <ac:spMk id="11" creationId="{00000000-0000-0000-0000-000000000000}"/>
          </ac:spMkLst>
        </pc:spChg>
        <pc:spChg chg="mod ord">
          <ac:chgData name="TERRIANN GRANT" userId="91aef3bf47478cf9" providerId="LiveId" clId="{9DAA915B-9C4B-4F01-916B-D87FBE349B01}" dt="2026-05-28T05:17:54.816" v="39" actId="166"/>
          <ac:spMkLst>
            <pc:docMk/>
            <pc:sldMk cId="0" sldId="256"/>
            <ac:spMk id="12" creationId="{00000000-0000-0000-0000-000000000000}"/>
          </ac:spMkLst>
        </pc:spChg>
        <pc:spChg chg="add mod">
          <ac:chgData name="TERRIANN GRANT" userId="91aef3bf47478cf9" providerId="LiveId" clId="{9DAA915B-9C4B-4F01-916B-D87FBE349B01}" dt="2026-05-28T05:16:52.001" v="29" actId="1076"/>
          <ac:spMkLst>
            <pc:docMk/>
            <pc:sldMk cId="0" sldId="256"/>
            <ac:spMk id="13" creationId="{59EB9E1C-D2CD-3DD6-6E89-1E4D70DBC69C}"/>
          </ac:spMkLst>
        </pc:spChg>
        <pc:spChg chg="add mod ord">
          <ac:chgData name="TERRIANN GRANT" userId="91aef3bf47478cf9" providerId="LiveId" clId="{9DAA915B-9C4B-4F01-916B-D87FBE349B01}" dt="2026-05-28T05:17:59.652" v="40" actId="1076"/>
          <ac:spMkLst>
            <pc:docMk/>
            <pc:sldMk cId="0" sldId="256"/>
            <ac:spMk id="16" creationId="{1DA6F957-CE0B-7259-5DE8-8EAFD96E13A3}"/>
          </ac:spMkLst>
        </pc:spChg>
        <pc:spChg chg="add mod">
          <ac:chgData name="TERRIANN GRANT" userId="91aef3bf47478cf9" providerId="LiveId" clId="{9DAA915B-9C4B-4F01-916B-D87FBE349B01}" dt="2026-05-28T05:14:58.150" v="14" actId="1076"/>
          <ac:spMkLst>
            <pc:docMk/>
            <pc:sldMk cId="0" sldId="256"/>
            <ac:spMk id="17" creationId="{9E5175A8-8B07-69CB-7152-A6B50392C2A0}"/>
          </ac:spMkLst>
        </pc:spChg>
        <pc:spChg chg="add del mod">
          <ac:chgData name="TERRIANN GRANT" userId="91aef3bf47478cf9" providerId="LiveId" clId="{9DAA915B-9C4B-4F01-916B-D87FBE349B01}" dt="2026-05-28T05:15:44.123" v="19" actId="478"/>
          <ac:spMkLst>
            <pc:docMk/>
            <pc:sldMk cId="0" sldId="256"/>
            <ac:spMk id="18" creationId="{492EE10A-0E28-F6F1-898B-3C1335A5FE2F}"/>
          </ac:spMkLst>
        </pc:spChg>
        <pc:spChg chg="add mod">
          <ac:chgData name="TERRIANN GRANT" userId="91aef3bf47478cf9" providerId="LiveId" clId="{9DAA915B-9C4B-4F01-916B-D87FBE349B01}" dt="2026-05-28T05:17:06.452" v="32" actId="164"/>
          <ac:spMkLst>
            <pc:docMk/>
            <pc:sldMk cId="0" sldId="256"/>
            <ac:spMk id="19" creationId="{4C94F460-F919-26E0-F76E-9669BA199DF4}"/>
          </ac:spMkLst>
        </pc:spChg>
        <pc:spChg chg="add mod">
          <ac:chgData name="TERRIANN GRANT" userId="91aef3bf47478cf9" providerId="LiveId" clId="{9DAA915B-9C4B-4F01-916B-D87FBE349B01}" dt="2026-05-28T05:17:06.452" v="32" actId="164"/>
          <ac:spMkLst>
            <pc:docMk/>
            <pc:sldMk cId="0" sldId="256"/>
            <ac:spMk id="20" creationId="{A990A165-5AFF-8BAE-1D28-CEAB0B4901FB}"/>
          </ac:spMkLst>
        </pc:spChg>
        <pc:spChg chg="add mod">
          <ac:chgData name="TERRIANN GRANT" userId="91aef3bf47478cf9" providerId="LiveId" clId="{9DAA915B-9C4B-4F01-916B-D87FBE349B01}" dt="2026-05-28T05:16:30.732" v="25"/>
          <ac:spMkLst>
            <pc:docMk/>
            <pc:sldMk cId="0" sldId="256"/>
            <ac:spMk id="21" creationId="{5DB9826F-77ED-AB89-2F75-0FB8976ACECC}"/>
          </ac:spMkLst>
        </pc:spChg>
        <pc:spChg chg="add mod">
          <ac:chgData name="TERRIANN GRANT" userId="91aef3bf47478cf9" providerId="LiveId" clId="{9DAA915B-9C4B-4F01-916B-D87FBE349B01}" dt="2026-05-28T05:16:30.732" v="25"/>
          <ac:spMkLst>
            <pc:docMk/>
            <pc:sldMk cId="0" sldId="256"/>
            <ac:spMk id="22" creationId="{FDDBFA50-9F6A-7635-ACD6-DFDADC78EF3C}"/>
          </ac:spMkLst>
        </pc:spChg>
        <pc:grpChg chg="add mod">
          <ac:chgData name="TERRIANN GRANT" userId="91aef3bf47478cf9" providerId="LiveId" clId="{9DAA915B-9C4B-4F01-916B-D87FBE349B01}" dt="2026-05-28T05:17:09.512" v="33" actId="1076"/>
          <ac:grpSpMkLst>
            <pc:docMk/>
            <pc:sldMk cId="0" sldId="256"/>
            <ac:grpSpMk id="23" creationId="{5B75375B-4A82-24EB-E013-101ECA9E0B96}"/>
          </ac:grpSpMkLst>
        </pc:grpChg>
        <pc:picChg chg="add del">
          <ac:chgData name="TERRIANN GRANT" userId="91aef3bf47478cf9" providerId="LiveId" clId="{9DAA915B-9C4B-4F01-916B-D87FBE349B01}" dt="2026-05-28T05:13:09.664" v="4" actId="22"/>
          <ac:picMkLst>
            <pc:docMk/>
            <pc:sldMk cId="0" sldId="256"/>
            <ac:picMk id="15" creationId="{CA3E6438-90C6-45E5-69A2-8C05A629BD4C}"/>
          </ac:picMkLst>
        </pc:picChg>
      </pc:sldChg>
      <pc:sldChg chg="modSp mod">
        <pc:chgData name="TERRIANN GRANT" userId="91aef3bf47478cf9" providerId="LiveId" clId="{9DAA915B-9C4B-4F01-916B-D87FBE349B01}" dt="2026-05-28T21:33:41.153" v="72" actId="14100"/>
        <pc:sldMkLst>
          <pc:docMk/>
          <pc:sldMk cId="0" sldId="259"/>
        </pc:sldMkLst>
        <pc:spChg chg="mod">
          <ac:chgData name="TERRIANN GRANT" userId="91aef3bf47478cf9" providerId="LiveId" clId="{9DAA915B-9C4B-4F01-916B-D87FBE349B01}" dt="2026-05-28T21:33:41.153" v="72" actId="14100"/>
          <ac:spMkLst>
            <pc:docMk/>
            <pc:sldMk cId="0" sldId="259"/>
            <ac:spMk id="6" creationId="{00000000-0000-0000-0000-000000000000}"/>
          </ac:spMkLst>
        </pc:spChg>
      </pc:sldChg>
      <pc:sldChg chg="addSp modSp mod">
        <pc:chgData name="TERRIANN GRANT" userId="91aef3bf47478cf9" providerId="LiveId" clId="{9DAA915B-9C4B-4F01-916B-D87FBE349B01}" dt="2026-05-28T05:25:07.318" v="65" actId="1076"/>
        <pc:sldMkLst>
          <pc:docMk/>
          <pc:sldMk cId="0" sldId="260"/>
        </pc:sldMkLst>
        <pc:picChg chg="add mod modCrop">
          <ac:chgData name="TERRIANN GRANT" userId="91aef3bf47478cf9" providerId="LiveId" clId="{9DAA915B-9C4B-4F01-916B-D87FBE349B01}" dt="2026-05-28T05:25:04.055" v="64" actId="1076"/>
          <ac:picMkLst>
            <pc:docMk/>
            <pc:sldMk cId="0" sldId="260"/>
            <ac:picMk id="33" creationId="{21F122A1-EDF8-47FF-9714-CE9CE7F56855}"/>
          </ac:picMkLst>
        </pc:picChg>
        <pc:picChg chg="add mod modCrop">
          <ac:chgData name="TERRIANN GRANT" userId="91aef3bf47478cf9" providerId="LiveId" clId="{9DAA915B-9C4B-4F01-916B-D87FBE349B01}" dt="2026-05-28T05:25:07.318" v="65" actId="1076"/>
          <ac:picMkLst>
            <pc:docMk/>
            <pc:sldMk cId="0" sldId="260"/>
            <ac:picMk id="35" creationId="{3AABC3A4-9517-C9BB-2D6D-C37E62AB2FBF}"/>
          </ac:picMkLst>
        </pc:picChg>
      </pc:sldChg>
      <pc:sldChg chg="addSp modSp mod">
        <pc:chgData name="TERRIANN GRANT" userId="91aef3bf47478cf9" providerId="LiveId" clId="{9DAA915B-9C4B-4F01-916B-D87FBE349B01}" dt="2026-05-28T21:32:42.749" v="70" actId="20578"/>
        <pc:sldMkLst>
          <pc:docMk/>
          <pc:sldMk cId="0" sldId="262"/>
        </pc:sldMkLst>
        <pc:spChg chg="add mod">
          <ac:chgData name="TERRIANN GRANT" userId="91aef3bf47478cf9" providerId="LiveId" clId="{9DAA915B-9C4B-4F01-916B-D87FBE349B01}" dt="2026-05-28T21:32:42.749" v="70" actId="20578"/>
          <ac:spMkLst>
            <pc:docMk/>
            <pc:sldMk cId="0" sldId="262"/>
            <ac:spMk id="36" creationId="{3658EBEF-C989-4C88-A671-5DE32A8462A7}"/>
          </ac:spMkLst>
        </pc:spChg>
        <pc:spChg chg="add mod">
          <ac:chgData name="TERRIANN GRANT" userId="91aef3bf47478cf9" providerId="LiveId" clId="{9DAA915B-9C4B-4F01-916B-D87FBE349B01}" dt="2026-05-28T21:32:09.882" v="67"/>
          <ac:spMkLst>
            <pc:docMk/>
            <pc:sldMk cId="0" sldId="262"/>
            <ac:spMk id="37" creationId="{2D49E312-5BE8-FFF6-F024-37DE93187680}"/>
          </ac:spMkLst>
        </pc:spChg>
        <pc:spChg chg="add mod">
          <ac:chgData name="TERRIANN GRANT" userId="91aef3bf47478cf9" providerId="LiveId" clId="{9DAA915B-9C4B-4F01-916B-D87FBE349B01}" dt="2026-05-28T21:32:09.882" v="67"/>
          <ac:spMkLst>
            <pc:docMk/>
            <pc:sldMk cId="0" sldId="262"/>
            <ac:spMk id="38" creationId="{15499383-A1AA-CB75-889C-EBA32E6DC3B0}"/>
          </ac:spMkLst>
        </pc:spChg>
        <pc:spChg chg="add mod">
          <ac:chgData name="TERRIANN GRANT" userId="91aef3bf47478cf9" providerId="LiveId" clId="{9DAA915B-9C4B-4F01-916B-D87FBE349B01}" dt="2026-05-28T21:32:25.422" v="69"/>
          <ac:spMkLst>
            <pc:docMk/>
            <pc:sldMk cId="0" sldId="262"/>
            <ac:spMk id="39" creationId="{1CE83677-E513-589C-F737-161671824516}"/>
          </ac:spMkLst>
        </pc:spChg>
      </pc:sldChg>
      <pc:sldChg chg="modSp mod">
        <pc:chgData name="TERRIANN GRANT" userId="91aef3bf47478cf9" providerId="LiveId" clId="{9DAA915B-9C4B-4F01-916B-D87FBE349B01}" dt="2026-05-28T05:20:51.847" v="47" actId="1076"/>
        <pc:sldMkLst>
          <pc:docMk/>
          <pc:sldMk cId="0" sldId="266"/>
        </pc:sldMkLst>
        <pc:spChg chg="mod">
          <ac:chgData name="TERRIANN GRANT" userId="91aef3bf47478cf9" providerId="LiveId" clId="{9DAA915B-9C4B-4F01-916B-D87FBE349B01}" dt="2026-05-28T05:20:29.387" v="41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TERRIANN GRANT" userId="91aef3bf47478cf9" providerId="LiveId" clId="{9DAA915B-9C4B-4F01-916B-D87FBE349B01}" dt="2026-05-28T05:20:33.742" v="42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TERRIANN GRANT" userId="91aef3bf47478cf9" providerId="LiveId" clId="{9DAA915B-9C4B-4F01-916B-D87FBE349B01}" dt="2026-05-28T05:20:36.627" v="43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TERRIANN GRANT" userId="91aef3bf47478cf9" providerId="LiveId" clId="{9DAA915B-9C4B-4F01-916B-D87FBE349B01}" dt="2026-05-28T05:20:40.531" v="44" actId="107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TERRIANN GRANT" userId="91aef3bf47478cf9" providerId="LiveId" clId="{9DAA915B-9C4B-4F01-916B-D87FBE349B01}" dt="2026-05-28T05:20:44.841" v="45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TERRIANN GRANT" userId="91aef3bf47478cf9" providerId="LiveId" clId="{9DAA915B-9C4B-4F01-916B-D87FBE349B01}" dt="2026-05-28T05:20:48.292" v="46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TERRIANN GRANT" userId="91aef3bf47478cf9" providerId="LiveId" clId="{9DAA915B-9C4B-4F01-916B-D87FBE349B01}" dt="2026-05-28T05:20:51.847" v="47" actId="1076"/>
          <ac:spMkLst>
            <pc:docMk/>
            <pc:sldMk cId="0" sldId="266"/>
            <ac:spMk id="23" creationId="{00000000-0000-0000-0000-000000000000}"/>
          </ac:spMkLst>
        </pc:spChg>
      </pc:sldChg>
      <pc:sldChg chg="modSp add mod setBg">
        <pc:chgData name="TERRIANN GRANT" userId="91aef3bf47478cf9" providerId="LiveId" clId="{9DAA915B-9C4B-4F01-916B-D87FBE349B01}" dt="2026-05-29T15:43:36.090" v="84" actId="20577"/>
        <pc:sldMkLst>
          <pc:docMk/>
          <pc:sldMk cId="0" sldId="269"/>
        </pc:sldMkLst>
        <pc:spChg chg="mod">
          <ac:chgData name="TERRIANN GRANT" userId="91aef3bf47478cf9" providerId="LiveId" clId="{9DAA915B-9C4B-4F01-916B-D87FBE349B01}" dt="2026-05-29T15:43:36.090" v="84" actId="20577"/>
          <ac:spMkLst>
            <pc:docMk/>
            <pc:sldMk cId="0" sldId="269"/>
            <ac:spMk id="3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754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0936" y="1243584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66928" y="818388"/>
            <a:ext cx="5303520" cy="4571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" y="20528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Why to Use It</a:t>
            </a:r>
            <a:endParaRPr lang="en-US" sz="20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59EB9E1C-D2CD-3DD6-6E89-1E4D70DBC69C}"/>
              </a:ext>
            </a:extLst>
          </p:cNvPr>
          <p:cNvSpPr/>
          <p:nvPr/>
        </p:nvSpPr>
        <p:spPr>
          <a:xfrm>
            <a:off x="566928" y="284378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: Terri-Ann Grant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Graduate Specialist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terrianngrant@scarletmail.rutgers.edu  </a:t>
            </a: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9E5175A8-8B07-69CB-7152-A6B50392C2A0}"/>
              </a:ext>
            </a:extLst>
          </p:cNvPr>
          <p:cNvSpPr/>
          <p:nvPr/>
        </p:nvSpPr>
        <p:spPr>
          <a:xfrm>
            <a:off x="594360" y="3566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DATA SCIENCE WORKSHOP SERIES</a:t>
            </a:r>
            <a:endParaRPr lang="en-US" sz="1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B75375B-4A82-24EB-E013-101ECA9E0B96}"/>
              </a:ext>
            </a:extLst>
          </p:cNvPr>
          <p:cNvGrpSpPr/>
          <p:nvPr/>
        </p:nvGrpSpPr>
        <p:grpSpPr>
          <a:xfrm>
            <a:off x="594360" y="4233672"/>
            <a:ext cx="1645920" cy="347472"/>
            <a:chOff x="1417320" y="4233672"/>
            <a:chExt cx="1645920" cy="347472"/>
          </a:xfrm>
        </p:grpSpPr>
        <p:sp>
          <p:nvSpPr>
            <p:cNvPr id="19" name="Shape 8">
              <a:extLst>
                <a:ext uri="{FF2B5EF4-FFF2-40B4-BE49-F238E27FC236}">
                  <a16:creationId xmlns:a16="http://schemas.microsoft.com/office/drawing/2014/main" id="{4C94F460-F919-26E0-F76E-9669BA199DF4}"/>
                </a:ext>
              </a:extLst>
            </p:cNvPr>
            <p:cNvSpPr/>
            <p:nvPr/>
          </p:nvSpPr>
          <p:spPr>
            <a:xfrm>
              <a:off x="1417320" y="4233672"/>
              <a:ext cx="1645920" cy="347472"/>
            </a:xfrm>
            <a:prstGeom prst="roundRect">
              <a:avLst>
                <a:gd name="adj" fmla="val 15789"/>
              </a:avLst>
            </a:prstGeom>
            <a:solidFill>
              <a:srgbClr val="C9A84C"/>
            </a:solidFill>
            <a:ln w="12700">
              <a:solidFill>
                <a:srgbClr val="C9A84C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" name="Text 9">
              <a:extLst>
                <a:ext uri="{FF2B5EF4-FFF2-40B4-BE49-F238E27FC236}">
                  <a16:creationId xmlns:a16="http://schemas.microsoft.com/office/drawing/2014/main" id="{A990A165-5AFF-8BAE-1D28-CEAB0B4901FB}"/>
                </a:ext>
              </a:extLst>
            </p:cNvPr>
            <p:cNvSpPr/>
            <p:nvPr/>
          </p:nvSpPr>
          <p:spPr>
            <a:xfrm>
              <a:off x="1417320" y="4233672"/>
              <a:ext cx="16459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F1B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WEEK 4</a:t>
              </a:r>
              <a:endParaRPr lang="en-US" sz="1100" dirty="0"/>
            </a:p>
          </p:txBody>
        </p:sp>
      </p:grpSp>
      <p:sp>
        <p:nvSpPr>
          <p:cNvPr id="16" name="Shape 10">
            <a:extLst>
              <a:ext uri="{FF2B5EF4-FFF2-40B4-BE49-F238E27FC236}">
                <a16:creationId xmlns:a16="http://schemas.microsoft.com/office/drawing/2014/main" id="{1DA6F957-CE0B-7259-5DE8-8EAFD96E13A3}"/>
              </a:ext>
            </a:extLst>
          </p:cNvPr>
          <p:cNvSpPr/>
          <p:nvPr/>
        </p:nvSpPr>
        <p:spPr>
          <a:xfrm>
            <a:off x="0" y="4868418"/>
            <a:ext cx="9144000" cy="3154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DB9826F-77ED-AB89-2F75-0FB8976ACECC}"/>
              </a:ext>
            </a:extLst>
          </p:cNvPr>
          <p:cNvSpPr/>
          <p:nvPr/>
        </p:nvSpPr>
        <p:spPr>
          <a:xfrm>
            <a:off x="6949440" y="-1097280"/>
            <a:ext cx="3200400" cy="3200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FDDBFA50-9F6A-7635-ACD6-DFDADC78EF3C}"/>
              </a:ext>
            </a:extLst>
          </p:cNvPr>
          <p:cNvSpPr/>
          <p:nvPr/>
        </p:nvSpPr>
        <p:spPr>
          <a:xfrm>
            <a:off x="7406640" y="-594360"/>
            <a:ext cx="2194560" cy="2194560"/>
          </a:xfrm>
          <a:prstGeom prst="ellipse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870393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Data Scientist  |  Applied Data Science Workshop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Goals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participants will be able to: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8449056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7957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79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50976" y="1197864"/>
            <a:ext cx="7699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data for machine learning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1170432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1673352"/>
            <a:ext cx="8449056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68249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50976" y="1700784"/>
            <a:ext cx="7699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Random Forest regression model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1673352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2176272"/>
            <a:ext cx="8449056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18541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50976" y="2203704"/>
            <a:ext cx="7699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performance using MAE, RMSE, and R²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" y="2176272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2679192"/>
            <a:ext cx="8449056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68833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950976" y="2706624"/>
            <a:ext cx="7699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traditional feature importance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" y="2679192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3182112"/>
            <a:ext cx="8449056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319125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50976" y="3209544"/>
            <a:ext cx="7699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SHAP values to explain global model behaviour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7472" y="3182112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7472" y="3685032"/>
            <a:ext cx="8449056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369417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50976" y="3712464"/>
            <a:ext cx="7699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individual predictions using local SHAP analysis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47472" y="3685032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47472" y="4187952"/>
            <a:ext cx="8449056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" y="419709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950976" y="4215384"/>
            <a:ext cx="7699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model limitations and responsible use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47472" y="4187952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and prediction at scale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uses data to identify patterns and make predictions.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" y="1664208"/>
            <a:ext cx="4937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664208"/>
            <a:ext cx="64008" cy="1920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17190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029968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9536" y="20299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broadband access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37744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2377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fraud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724912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" y="27249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products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072384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9536" y="30723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demand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1664208"/>
            <a:ext cx="3218688" cy="19202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577840" y="1664208"/>
            <a:ext cx="321868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77840" y="1828800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87568" y="2057400"/>
            <a:ext cx="29992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 a tool for pattern recognition and prediction.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Landscape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AI, ML, Statistics, and LLMs connect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5760720" cy="3017520"/>
          </a:xfrm>
          <a:prstGeom prst="rect">
            <a:avLst/>
          </a:prstGeom>
          <a:solidFill>
            <a:srgbClr val="1E2761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115568"/>
            <a:ext cx="5504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</a:rPr>
              <a:t>ARTIFICIAL INTELLIGENCE</a:t>
            </a:r>
            <a:r>
              <a:rPr lang="en-US" sz="900" dirty="0">
                <a:solidFill>
                  <a:srgbClr val="F4F6FB"/>
                </a:solidFill>
              </a:rPr>
              <a:t>  —  machines that reason, plan, and adapt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81328"/>
            <a:ext cx="5358384" cy="2322576"/>
          </a:xfrm>
          <a:prstGeom prst="rect">
            <a:avLst/>
          </a:prstGeom>
          <a:solidFill>
            <a:srgbClr val="2A3F7E"/>
          </a:solidFill>
          <a:ln w="12700">
            <a:solidFill>
              <a:srgbClr val="F0D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6656" y="1517904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D080"/>
                </a:solidFill>
              </a:rPr>
              <a:t>MACHINE LEARNING</a:t>
            </a:r>
            <a:r>
              <a:rPr lang="en-US" sz="900" dirty="0">
                <a:solidFill>
                  <a:srgbClr val="F4F6FB"/>
                </a:solidFill>
              </a:rPr>
              <a:t>  —  learns patterns from data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883664"/>
            <a:ext cx="4956048" cy="1627632"/>
          </a:xfrm>
          <a:prstGeom prst="rect">
            <a:avLst/>
          </a:prstGeom>
          <a:solidFill>
            <a:srgbClr val="1A3060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7824" y="1920240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ADCFC"/>
                </a:solidFill>
              </a:rPr>
              <a:t>DEEP LEARNING</a:t>
            </a:r>
            <a:r>
              <a:rPr lang="en-US" sz="900" dirty="0">
                <a:solidFill>
                  <a:srgbClr val="F4F6FB"/>
                </a:solidFill>
              </a:rPr>
              <a:t>  —  multi-layer neural networks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50976" y="2286000"/>
            <a:ext cx="4553712" cy="1078992"/>
          </a:xfrm>
          <a:prstGeom prst="rect">
            <a:avLst/>
          </a:prstGeom>
          <a:solidFill>
            <a:srgbClr val="0F1B4C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0976" y="2286000"/>
            <a:ext cx="455371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78992" y="23591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 (LLMs)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" y="261518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· Claude · Gemini · Llama  —  trained on vast text to generate language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54496" y="1078992"/>
            <a:ext cx="2542032" cy="301752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54496" y="1078992"/>
            <a:ext cx="254203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54496" y="1243584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CONNECTIONS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64224" y="14630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364224" y="166420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field — any machine that mimics human reasoning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64224" y="197510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64224" y="217627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of AI that learns patterns from labelled data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364224" y="248716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Lrng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364224" y="2688336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of ML using multi-layer neural networks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364224" y="29992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364224" y="320040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deep learning trained on text (GPT, Claude…)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364224" y="351129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364224" y="371246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mathematical foundation underlying all of the above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47472" y="4187952"/>
            <a:ext cx="844905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" y="42245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1B4C"/>
                </a:solidFill>
              </a:rPr>
              <a:t>📐  </a:t>
            </a:r>
            <a:r>
              <a:rPr lang="en-US" sz="1050" b="1" kern="0" spc="200" dirty="0">
                <a:solidFill>
                  <a:srgbClr val="0F1B4C"/>
                </a:solidFill>
              </a:rPr>
              <a:t>STATISTICS</a:t>
            </a:r>
            <a:r>
              <a:rPr lang="en-US" sz="900" dirty="0">
                <a:solidFill>
                  <a:srgbClr val="1A2540"/>
                </a:solidFill>
              </a:rPr>
              <a:t>   The mathematical foundation of it all — probability, distributions, inference, and optimization power every layer above.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vs Traditional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approach for the problem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3977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64008" cy="1920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475488" cy="475488"/>
          </a:xfrm>
          <a:prstGeom prst="ellipse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126187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1847088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explanation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28600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uses statistical inference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18888" y="1170432"/>
            <a:ext cx="3977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18888" y="1170432"/>
            <a:ext cx="64008" cy="1920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974336" y="1261872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74336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50408" y="126187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74336" y="1847088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prediction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74336" y="228600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data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" y="4005072"/>
            <a:ext cx="8449056" cy="82296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4005072"/>
            <a:ext cx="8449056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4169664"/>
            <a:ext cx="8449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approaches are useful depending on the problem.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broad families of ML approaches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39776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64008" cy="3566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512064" cy="51206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3856" y="1261872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1883664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labeled outcomes.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2677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59689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25968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14553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" y="31455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18888" y="1170432"/>
            <a:ext cx="39776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18888" y="1170432"/>
            <a:ext cx="64008" cy="3566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74336" y="1261872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74336" y="1261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96128" y="1261872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74336" y="1883664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hidden patterns.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74336" y="22677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74336" y="259689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7433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49824" y="25968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74336" y="314553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74336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49824" y="31455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3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1F122A1-EDF8-47FF-9714-CE9CE7F568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7" t="29316" r="49999" b="22198"/>
          <a:stretch>
            <a:fillRect/>
          </a:stretch>
        </p:blipFill>
        <p:spPr>
          <a:xfrm>
            <a:off x="1947672" y="3427526"/>
            <a:ext cx="2350008" cy="123772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AABC3A4-9517-C9BB-2D6D-C37E62AB2F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86" t="29821" r="3475" b="21669"/>
          <a:stretch>
            <a:fillRect/>
          </a:stretch>
        </p:blipFill>
        <p:spPr>
          <a:xfrm>
            <a:off x="6558923" y="3502033"/>
            <a:ext cx="2185416" cy="11632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equity in New Jersey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45720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64008" cy="2743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22529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1536192"/>
            <a:ext cx="4261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internet access rates using: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1956816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9264" y="19568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" y="2450592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24505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44368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9264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Broadband availability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66360" y="1170432"/>
            <a:ext cx="3630168" cy="274320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66360" y="1170432"/>
            <a:ext cx="363016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66360" y="1335024"/>
            <a:ext cx="3630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85232" y="1627632"/>
            <a:ext cx="340156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can help identify communities at risk of digital inequity — enabling more targeted investment decisions.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" y="420624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synthetic NJ digital equity data used throughout this workshop series.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from problem definition to results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402336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" y="1335024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335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1225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5179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the question. What are you predicting? For whom?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73168" y="1170432"/>
            <a:ext cx="402336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64608" y="1335024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1335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13248" y="1225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13248" y="15179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transform, and engineer features from raw data.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011680"/>
            <a:ext cx="402336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8912" y="2176272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7552" y="2066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Train/Test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23591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back a portion of data to evaluate the model honestly.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73168" y="2011680"/>
            <a:ext cx="402336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64608" y="2176272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13248" y="2066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13248" y="23591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algorithm to the training data to learn patterns.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2852928"/>
            <a:ext cx="402336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8912" y="3017520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8912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7552" y="2907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552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performance on unseen test data using chosen metrics.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2852928"/>
            <a:ext cx="402336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64608" y="3017520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64608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13248" y="2907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Results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13248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numbers into decisions. Consider fairness and context.</a:t>
            </a:r>
            <a:endParaRPr lang="en-US" sz="1000" dirty="0"/>
          </a:p>
        </p:txBody>
      </p:sp>
      <p:sp>
        <p:nvSpPr>
          <p:cNvPr id="36" name="Shape 25">
            <a:extLst>
              <a:ext uri="{FF2B5EF4-FFF2-40B4-BE49-F238E27FC236}">
                <a16:creationId xmlns:a16="http://schemas.microsoft.com/office/drawing/2014/main" id="{3658EBEF-C989-4C88-A671-5DE32A8462A7}"/>
              </a:ext>
            </a:extLst>
          </p:cNvPr>
          <p:cNvSpPr/>
          <p:nvPr/>
        </p:nvSpPr>
        <p:spPr>
          <a:xfrm>
            <a:off x="347472" y="3529584"/>
            <a:ext cx="8449056" cy="969264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2D49E312-5BE8-FFF6-F024-37DE93187680}"/>
              </a:ext>
            </a:extLst>
          </p:cNvPr>
          <p:cNvSpPr/>
          <p:nvPr/>
        </p:nvSpPr>
        <p:spPr>
          <a:xfrm>
            <a:off x="347472" y="3529584"/>
            <a:ext cx="8449056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15499383-A1AA-CB75-889C-EBA32E6DC3B0}"/>
              </a:ext>
            </a:extLst>
          </p:cNvPr>
          <p:cNvSpPr/>
          <p:nvPr/>
        </p:nvSpPr>
        <p:spPr>
          <a:xfrm>
            <a:off x="347472" y="3694176"/>
            <a:ext cx="8449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000" dirty="0"/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1CE83677-E513-589C-F737-161671824516}"/>
              </a:ext>
            </a:extLst>
          </p:cNvPr>
          <p:cNvSpPr/>
          <p:nvPr/>
        </p:nvSpPr>
        <p:spPr>
          <a:xfrm>
            <a:off x="457200" y="387705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time in real projects is spent on steps 1–2, not 3–4.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SHAP Values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‘what predicted’ to ‘why it predicted’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493776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64008" cy="2578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2252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SHAP DOES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572768"/>
            <a:ext cx="4224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features pushed a prediction higher or lower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2194560"/>
            <a:ext cx="4224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both global (overall dataset) and local (one prediction) explanations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816352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816352"/>
            <a:ext cx="4224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especially well with tree-based models like Random Forest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77840" y="1170432"/>
            <a:ext cx="3218688" cy="2578608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577840" y="1170432"/>
            <a:ext cx="321868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77840" y="1335024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87568" y="1572768"/>
            <a:ext cx="29992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feature importance tells you which variables matter overall.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tells you why the model made each individual prediction.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" y="3877056"/>
            <a:ext cx="8449056" cy="786384"/>
          </a:xfrm>
          <a:prstGeom prst="roundRect">
            <a:avLst>
              <a:gd name="adj" fmla="val 13953"/>
            </a:avLst>
          </a:prstGeom>
          <a:solidFill>
            <a:srgbClr val="F4F6FB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9319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 =  SHapley Additive exPlanations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2428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game-theory approach that fairly attributes each prediction to each input feature.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SHAP Outputs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chart types you will use in the workshop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64008" cy="2743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" y="1261872"/>
            <a:ext cx="585216" cy="58521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261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 / Summary Plot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" y="2377440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one observation. Position on x-axis shows impact. Color shows whether feature value is high or low. Top features matter most.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39312"/>
            <a:ext cx="2432304" cy="256032"/>
          </a:xfrm>
          <a:prstGeom prst="roundRect">
            <a:avLst>
              <a:gd name="adj" fmla="val 42857"/>
            </a:avLst>
          </a:prstGeom>
          <a:solidFill>
            <a:srgbClr val="0F1B4C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global overview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63824" y="1170432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63824" y="1170432"/>
            <a:ext cx="64008" cy="2743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91840" y="1261872"/>
            <a:ext cx="585216" cy="58521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0" y="1261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73552" y="1956816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Plot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377440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SHAP value per feature. A clean global ranking of variable influence — easier to read than the beeswarm at a glance.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73552" y="3639312"/>
            <a:ext cx="2432304" cy="256032"/>
          </a:xfrm>
          <a:prstGeom prst="roundRect">
            <a:avLst>
              <a:gd name="adj" fmla="val 42857"/>
            </a:avLst>
          </a:prstGeom>
          <a:solidFill>
            <a:srgbClr val="0F1B4C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73552" y="363931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quick global ranking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80176" y="1170432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80176" y="1170432"/>
            <a:ext cx="64008" cy="2743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08192" y="1261872"/>
            <a:ext cx="585216" cy="58521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08192" y="1261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9904" y="1956816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/ Local Plot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2377440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the model moves from a baseline prediction to the final value for one specific observation. Best for explaining one case.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9904" y="3639312"/>
            <a:ext cx="2432304" cy="256032"/>
          </a:xfrm>
          <a:prstGeom prst="roundRect">
            <a:avLst>
              <a:gd name="adj" fmla="val 42857"/>
            </a:avLst>
          </a:prstGeom>
          <a:solidFill>
            <a:srgbClr val="0F1B4C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89904" y="363931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explaining one prediction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7472" y="4078224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workshop, you will generate all three of these for the internet access rate model.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participants will do in the workshop notebook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8449056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6400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1887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clean the 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1408176"/>
            <a:ext cx="7699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Inspect, flag placeholders, impute/drop missing values.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1746504"/>
            <a:ext cx="8449056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" y="1746504"/>
            <a:ext cx="6400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176479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17647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and train a Random Forest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1984248"/>
            <a:ext cx="7699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split, then fit the Random Forest regressor.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322576"/>
            <a:ext cx="8449056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" y="2322576"/>
            <a:ext cx="6400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340864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340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23408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performance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" y="2560320"/>
            <a:ext cx="7699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MAE, RMSE, and R² on the held-out test set.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2898648"/>
            <a:ext cx="8449056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7472" y="2898648"/>
            <a:ext cx="6400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2916936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2916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7552" y="29169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traditional feature importance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7552" y="3136392"/>
            <a:ext cx="7699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variables by their average contribution across all trees.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3474720"/>
            <a:ext cx="8449056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7472" y="3474720"/>
            <a:ext cx="6400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3493008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87552" y="34930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SHAP summary and bar plots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7552" y="3712464"/>
            <a:ext cx="7699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features matter globally and in which direction.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" y="4050792"/>
            <a:ext cx="8449056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47472" y="4050792"/>
            <a:ext cx="6400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" y="406908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87552" y="40690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one prediction with SHAP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7552" y="4288536"/>
            <a:ext cx="7699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waterfall plot to explain a single community’s prediction.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7472" y="4626864"/>
            <a:ext cx="8449056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47472" y="4626864"/>
            <a:ext cx="6400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57200" y="464515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4645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87552" y="46451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limitations and fairness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87552" y="4864608"/>
            <a:ext cx="7699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bias, overfitting, and responsible use of model outputs.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and interpreting the right metrics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163403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64008" cy="1463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" y="1261872"/>
            <a:ext cx="658368" cy="65836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261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6364" y="139903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056840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difference between predicted and actual values. Easy to interpret in original units.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63824" y="1170432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63824" y="1170432"/>
            <a:ext cx="64008" cy="1463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55264" y="1261872"/>
            <a:ext cx="658368" cy="65836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55264" y="1261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65576" y="140817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961388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MAE, but penalises large errors more heavily. Useful when big mistakes are especially costly.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0176" y="1170432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80176" y="1170432"/>
            <a:ext cx="64008" cy="1463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71616" y="1261872"/>
            <a:ext cx="658368" cy="65836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71616" y="1261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5332" y="139903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1924812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outcome variance explained by the model. Ranges from 0 to 1 (higher = better fit).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2798064"/>
            <a:ext cx="8449056" cy="621792"/>
          </a:xfrm>
          <a:prstGeom prst="roundRect">
            <a:avLst>
              <a:gd name="adj" fmla="val 17647"/>
            </a:avLst>
          </a:prstGeom>
          <a:solidFill>
            <a:srgbClr val="F4F6FB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7472" y="2798064"/>
            <a:ext cx="6400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" y="2816352"/>
            <a:ext cx="8193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Accuracy, Precision, Recall, and F1 Score are classification metrics — used when predicting categories, not numbers. This workshop is a regression task, so we use MAE, RMSE, and R².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3529584"/>
            <a:ext cx="8449056" cy="969264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47472" y="3529584"/>
            <a:ext cx="8449056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" y="3694176"/>
            <a:ext cx="8449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87705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 does not always mean the model is useful or fair.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Limitations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for before acting on predictions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8449056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64008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" y="1289304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289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2416" y="1225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2416" y="1517904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training data reflects past inequities, the model will too.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1938528"/>
            <a:ext cx="8449056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" y="1938528"/>
            <a:ext cx="64008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" y="2057400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42416" y="1993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2416" y="228600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memorises training data performs poorly on new data.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2706624"/>
            <a:ext cx="8449056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" y="2706624"/>
            <a:ext cx="64008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" y="2825496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42416" y="2761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Variables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2416" y="3054096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Unmeasured factors can make predictions inaccurate or misleading.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3474720"/>
            <a:ext cx="8449056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7472" y="3474720"/>
            <a:ext cx="64008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" y="3593592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42416" y="35295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Generalisation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382219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 one region or time period may not transfer.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" y="4279392"/>
            <a:ext cx="8449056" cy="566928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7472" y="4279392"/>
            <a:ext cx="8449056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315968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Models should support decision-making, not replace it.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— Applied Machine Learning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969264"/>
            <a:ext cx="51206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152144"/>
            <a:ext cx="8449056" cy="731520"/>
          </a:xfrm>
          <a:prstGeom prst="rect">
            <a:avLst/>
          </a:prstGeom>
          <a:solidFill>
            <a:srgbClr val="2A3F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152144"/>
            <a:ext cx="6400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" y="1261872"/>
            <a:ext cx="512064" cy="51206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261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261872"/>
            <a:ext cx="7552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supports prediction — interpretation is what makes it useful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1975104"/>
            <a:ext cx="8449056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" y="1975104"/>
            <a:ext cx="6400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" y="2084832"/>
            <a:ext cx="512064" cy="51206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2084832"/>
            <a:ext cx="7552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reveal why a model predicts, not just what it predicts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" y="2798064"/>
            <a:ext cx="8449056" cy="731520"/>
          </a:xfrm>
          <a:prstGeom prst="rect">
            <a:avLst/>
          </a:prstGeom>
          <a:solidFill>
            <a:srgbClr val="2A3F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2798064"/>
            <a:ext cx="6400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" y="2907792"/>
            <a:ext cx="512064" cy="51206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2907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5568" y="2907792"/>
            <a:ext cx="7552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and classification tasks require different evaluation metrics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" y="3621024"/>
            <a:ext cx="8449056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7472" y="3621024"/>
            <a:ext cx="6400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" y="3730752"/>
            <a:ext cx="512064" cy="51206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" y="3730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5568" y="3730752"/>
            <a:ext cx="7552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should support decisions, not replace human judgment and context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1177</Words>
  <Application>Microsoft Office PowerPoint</Application>
  <PresentationFormat>On-screen Show (16:9)</PresentationFormat>
  <Paragraphs>229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Machine Learning — Session 4</dc:title>
  <dc:subject>Applied Data Science Workshop Series</dc:subject>
  <dc:creator>Kelly Ann Campbell</dc:creator>
  <cp:lastModifiedBy>TERRIANN GRANT</cp:lastModifiedBy>
  <cp:revision>1</cp:revision>
  <dcterms:created xsi:type="dcterms:W3CDTF">2026-05-28T04:19:28Z</dcterms:created>
  <dcterms:modified xsi:type="dcterms:W3CDTF">2026-05-29T15:43:37Z</dcterms:modified>
</cp:coreProperties>
</file>