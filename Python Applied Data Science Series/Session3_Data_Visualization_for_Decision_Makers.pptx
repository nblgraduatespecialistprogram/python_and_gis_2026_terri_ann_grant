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7B6717-6749-4B24-BB4E-604BC8AB75A2}" v="4" dt="2026-05-28T05:11:44.9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0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RIANN GRANT" userId="91aef3bf47478cf9" providerId="LiveId" clId="{9DAA915B-9C4B-4F01-916B-D87FBE349B01}"/>
    <pc:docChg chg="undo custSel modSld">
      <pc:chgData name="TERRIANN GRANT" userId="91aef3bf47478cf9" providerId="LiveId" clId="{9DAA915B-9C4B-4F01-916B-D87FBE349B01}" dt="2026-05-28T05:11:58.177" v="17" actId="1076"/>
      <pc:docMkLst>
        <pc:docMk/>
      </pc:docMkLst>
      <pc:sldChg chg="addSp delSp modSp mod">
        <pc:chgData name="TERRIANN GRANT" userId="91aef3bf47478cf9" providerId="LiveId" clId="{9DAA915B-9C4B-4F01-916B-D87FBE349B01}" dt="2026-05-28T05:11:58.177" v="17" actId="1076"/>
        <pc:sldMkLst>
          <pc:docMk/>
          <pc:sldMk cId="0" sldId="256"/>
        </pc:sldMkLst>
        <pc:spChg chg="del">
          <ac:chgData name="TERRIANN GRANT" userId="91aef3bf47478cf9" providerId="LiveId" clId="{9DAA915B-9C4B-4F01-916B-D87FBE349B01}" dt="2026-05-28T05:11:53.176" v="16" actId="478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TERRIANN GRANT" userId="91aef3bf47478cf9" providerId="LiveId" clId="{9DAA915B-9C4B-4F01-916B-D87FBE349B01}" dt="2026-05-28T05:11:58.177" v="17" actId="1076"/>
          <ac:spMkLst>
            <pc:docMk/>
            <pc:sldMk cId="0" sldId="256"/>
            <ac:spMk id="14" creationId="{ECF1CF20-84CF-89C7-1B96-D8D27E83A4C2}"/>
          </ac:spMkLst>
        </pc:spChg>
      </pc:sldChg>
      <pc:sldChg chg="addSp delSp modSp mod">
        <pc:chgData name="TERRIANN GRANT" userId="91aef3bf47478cf9" providerId="LiveId" clId="{9DAA915B-9C4B-4F01-916B-D87FBE349B01}" dt="2026-05-22T00:25:24.068" v="13" actId="14100"/>
        <pc:sldMkLst>
          <pc:docMk/>
          <pc:sldMk cId="0" sldId="261"/>
        </pc:sldMkLst>
        <pc:spChg chg="mod">
          <ac:chgData name="TERRIANN GRANT" userId="91aef3bf47478cf9" providerId="LiveId" clId="{9DAA915B-9C4B-4F01-916B-D87FBE349B01}" dt="2026-05-22T00:25:24.068" v="13" actId="14100"/>
          <ac:spMkLst>
            <pc:docMk/>
            <pc:sldMk cId="0" sldId="261"/>
            <ac:spMk id="38" creationId="{00000000-0000-0000-0000-000000000000}"/>
          </ac:spMkLst>
        </pc:spChg>
        <pc:picChg chg="mod">
          <ac:chgData name="TERRIANN GRANT" userId="91aef3bf47478cf9" providerId="LiveId" clId="{9DAA915B-9C4B-4F01-916B-D87FBE349B01}" dt="2026-05-22T00:23:45.463" v="1" actId="14100"/>
          <ac:picMkLst>
            <pc:docMk/>
            <pc:sldMk cId="0" sldId="261"/>
            <ac:picMk id="13" creationId="{00000000-0000-0000-0000-000000000000}"/>
          </ac:picMkLst>
        </pc:picChg>
        <pc:picChg chg="mod">
          <ac:chgData name="TERRIANN GRANT" userId="91aef3bf47478cf9" providerId="LiveId" clId="{9DAA915B-9C4B-4F01-916B-D87FBE349B01}" dt="2026-05-22T00:23:53.006" v="3" actId="14100"/>
          <ac:picMkLst>
            <pc:docMk/>
            <pc:sldMk cId="0" sldId="261"/>
            <ac:picMk id="29" creationId="{00000000-0000-0000-0000-000000000000}"/>
          </ac:picMkLst>
        </pc:picChg>
        <pc:picChg chg="mod">
          <ac:chgData name="TERRIANN GRANT" userId="91aef3bf47478cf9" providerId="LiveId" clId="{9DAA915B-9C4B-4F01-916B-D87FBE349B01}" dt="2026-05-22T00:24:04.167" v="4" actId="14100"/>
          <ac:picMkLst>
            <pc:docMk/>
            <pc:sldMk cId="0" sldId="261"/>
            <ac:picMk id="37" creationId="{00000000-0000-0000-0000-000000000000}"/>
          </ac:picMkLst>
        </pc:picChg>
        <pc:picChg chg="add del mod">
          <ac:chgData name="TERRIANN GRANT" userId="91aef3bf47478cf9" providerId="LiveId" clId="{9DAA915B-9C4B-4F01-916B-D87FBE349B01}" dt="2026-05-22T00:25:13.873" v="12" actId="1076"/>
          <ac:picMkLst>
            <pc:docMk/>
            <pc:sldMk cId="0" sldId="261"/>
            <ac:picMk id="4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224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-1097280"/>
            <a:ext cx="3200400" cy="3200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06640" y="-594360"/>
            <a:ext cx="2194560" cy="2194560"/>
          </a:xfrm>
          <a:prstGeom prst="ellipse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5943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DATA SCIENCE WORKSHOP SERIES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24128"/>
            <a:ext cx="54864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685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Visualization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Decision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Makers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502920" y="411480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4114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4828032"/>
            <a:ext cx="84124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Data Scientist  |  Applied Data Science Workshop</a:t>
            </a:r>
            <a:endParaRPr lang="en-US" sz="9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ECF1CF20-84CF-89C7-1B96-D8D27E83A4C2}"/>
              </a:ext>
            </a:extLst>
          </p:cNvPr>
          <p:cNvSpPr/>
          <p:nvPr/>
        </p:nvSpPr>
        <p:spPr>
          <a:xfrm>
            <a:off x="512064" y="331139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: Terri-Ann Grant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Graduate Specialist</a:t>
            </a:r>
          </a:p>
          <a:p>
            <a:pPr marL="0" indent="0" algn="l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terrianngrant@scarletmail.rutgers.edu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Goals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today's session, participants will be able to: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566928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64008" cy="3703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426464"/>
            <a:ext cx="532180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principles of effective data visualization</a:t>
            </a:r>
            <a:endParaRPr lang="en-US" sz="135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common visualization mistakes</a:t>
            </a:r>
            <a:endParaRPr lang="en-US" sz="135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chart readability and storytelling</a:t>
            </a:r>
            <a:endParaRPr lang="en-US" sz="135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insights clearly to decision-makers</a:t>
            </a:r>
            <a:endParaRPr lang="en-US" sz="135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polished visualizations using Python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170432"/>
            <a:ext cx="2514600" cy="370332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63640" y="1170432"/>
            <a:ext cx="25146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3640" y="133502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219456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903720" y="22311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Visualization Matters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2715768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03720" y="27523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Selection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3236976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03720" y="32735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NJ Data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3758184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4652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03720" y="37947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4279392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4652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03720" y="43159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&amp; Insight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Visualization Matters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data into decisions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502920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64008" cy="3703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335024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HELPS: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1792224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792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173736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complex information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2267712"/>
            <a:ext cx="4626864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6928" y="237744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23225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patterns quickly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2852928"/>
            <a:ext cx="4626864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6928" y="2962656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29077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understanding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3438144"/>
            <a:ext cx="4626864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6928" y="3547872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3547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349300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faster decision-making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4023360"/>
            <a:ext cx="4626864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66928" y="4133088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4128" y="40782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to technical and non-technical audiences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577840" y="1170432"/>
            <a:ext cx="3200400" cy="370332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577840" y="1170432"/>
            <a:ext cx="32004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77840" y="13350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06440" y="1764792"/>
            <a:ext cx="2743200" cy="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675120" y="1947672"/>
            <a:ext cx="1005840" cy="10058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75120" y="194767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1363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 is not decoration.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035040" y="3593592"/>
            <a:ext cx="2286000" cy="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806440" y="36850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 communication tool.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806440" y="42336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convey meaning that tables cannot.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Good Visualization?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principles every analyst should apply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64008" cy="1737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" y="1810512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8992" y="126187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Titles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78992" y="1664208"/>
            <a:ext cx="1709928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78992" y="1719072"/>
            <a:ext cx="1764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reader exactly what the chart shows.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1170432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18688" y="1170432"/>
            <a:ext cx="64008" cy="1737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74136" y="1810512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74136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31920" y="126187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Labels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31920" y="1664208"/>
            <a:ext cx="1709928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31920" y="1719072"/>
            <a:ext cx="1764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labels and legends that are easy to interpret.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71616" y="1170432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71616" y="1170432"/>
            <a:ext cx="64008" cy="1737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27064" y="1810512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27064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84848" y="126187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Chart Type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84848" y="1664208"/>
            <a:ext cx="1709928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84848" y="1719072"/>
            <a:ext cx="1764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chart to the question being answered.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136392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3136392"/>
            <a:ext cx="64008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21208" y="37764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1208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" y="322783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Clutter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78992" y="3630168"/>
            <a:ext cx="1709928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78992" y="3685032"/>
            <a:ext cx="1764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gridlines, borders, and decorations that add no value.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18688" y="3136392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18688" y="3136392"/>
            <a:ext cx="64008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374136" y="37764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74136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31920" y="322783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Messaging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931920" y="3630168"/>
            <a:ext cx="1709928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931920" y="3685032"/>
            <a:ext cx="1764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chart, one key insight. Avoid overloading the viewer.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71616" y="3136392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071616" y="3136392"/>
            <a:ext cx="64008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227064" y="377647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27064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784848" y="3227832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Scales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784848" y="3630168"/>
            <a:ext cx="1709928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784848" y="3685032"/>
            <a:ext cx="17647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should start at zero. Avoid misleading truncation.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Visualization Mistakes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 that undermine your message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148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64008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" y="1508760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CRW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42416" y="1243584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Overcrowded Charts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42416" y="1572768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data series, categories, or labels make charts unreadable.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170432"/>
            <a:ext cx="41148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1170432"/>
            <a:ext cx="64008" cy="11155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64608" y="1508760"/>
            <a:ext cx="420624" cy="42062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64608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85816" y="1243584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Labels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85816" y="1572768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without labels force the reader to guess what the data represents.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468880"/>
            <a:ext cx="41148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468880"/>
            <a:ext cx="64008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1208" y="2807208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42416" y="2542032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Scales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42416" y="2871216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axes or dual axes can distort the apparent relationship.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468880"/>
            <a:ext cx="41148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2468880"/>
            <a:ext cx="64008" cy="11155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64608" y="2807208"/>
            <a:ext cx="420624" cy="42062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85816" y="2542032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Colors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85816" y="2871216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different color for every category reduces clarity, not improves it.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767328"/>
            <a:ext cx="41148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5760" y="3767328"/>
            <a:ext cx="64008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21208" y="4105656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1208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42416" y="3840480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Chart Type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42416" y="4169664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 chart with 12 slices, or a bar chart for continuous data, sends the wrong signal.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3767328"/>
            <a:ext cx="41148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09160" y="3767328"/>
            <a:ext cx="64008" cy="11155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64608" y="4105656"/>
            <a:ext cx="420624" cy="42062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64608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85816" y="3840480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Context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85816" y="4169664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 without interpretation leaves the reader to draw their own conclusions.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Chart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visual to the analytical question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53035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64008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" y="128930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289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42416" y="1207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2416" y="14996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categories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23744" y="1243584"/>
            <a:ext cx="0" cy="493776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" y="1170432"/>
            <a:ext cx="2944368" cy="6400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65760" y="1901952"/>
            <a:ext cx="53035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65760" y="1901952"/>
            <a:ext cx="64008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21208" y="2020824"/>
            <a:ext cx="402336" cy="40233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21208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42416" y="1938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42416" y="22311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523744" y="1975104"/>
            <a:ext cx="0" cy="493776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1947672"/>
            <a:ext cx="2944368" cy="54864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365760" y="2633472"/>
            <a:ext cx="53035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65760" y="2633472"/>
            <a:ext cx="64008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521208" y="275234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21208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SCT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1042416" y="2670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Scatterplots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042416" y="29626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variables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2523744" y="2706624"/>
            <a:ext cx="0" cy="493776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5184" y="2633472"/>
            <a:ext cx="2944368" cy="64008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365760" y="3364992"/>
            <a:ext cx="53035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365760" y="3364992"/>
            <a:ext cx="64008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521208" y="3483864"/>
            <a:ext cx="402336" cy="40233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521208" y="3483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1042416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1042416" y="36941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2523744" y="3438144"/>
            <a:ext cx="0" cy="493776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5184" y="3410712"/>
            <a:ext cx="2944368" cy="562356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365760" y="4096512"/>
            <a:ext cx="5303520" cy="1001268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365760" y="4096512"/>
            <a:ext cx="64008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521208" y="421538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/>
          <p:nvPr/>
        </p:nvSpPr>
        <p:spPr>
          <a:xfrm>
            <a:off x="521208" y="4215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1042416" y="4133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1042416" y="44256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patterns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2523744" y="4169664"/>
            <a:ext cx="0" cy="493776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4" descr="Blue world map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862073" y="4112623"/>
            <a:ext cx="1601876" cy="100126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5897880" y="1170432"/>
            <a:ext cx="2880360" cy="3584448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5897880" y="1170432"/>
            <a:ext cx="288036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1"/>
          <p:cNvSpPr/>
          <p:nvPr/>
        </p:nvSpPr>
        <p:spPr>
          <a:xfrm>
            <a:off x="5897880" y="133502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6126480" y="1764792"/>
            <a:ext cx="2423160" cy="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3"/>
          <p:cNvSpPr/>
          <p:nvPr/>
        </p:nvSpPr>
        <p:spPr>
          <a:xfrm>
            <a:off x="6899148" y="1883664"/>
            <a:ext cx="877824" cy="87782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4"/>
          <p:cNvSpPr/>
          <p:nvPr/>
        </p:nvSpPr>
        <p:spPr>
          <a:xfrm>
            <a:off x="6899148" y="1883664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Q?</a:t>
            </a:r>
            <a:endParaRPr lang="en-US" sz="2000" dirty="0"/>
          </a:p>
        </p:txBody>
      </p:sp>
      <p:sp>
        <p:nvSpPr>
          <p:cNvPr id="52" name="Text 45"/>
          <p:cNvSpPr/>
          <p:nvPr/>
        </p:nvSpPr>
        <p:spPr>
          <a:xfrm>
            <a:off x="6126480" y="29260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chart should match the analytical question.</a:t>
            </a:r>
            <a:endParaRPr lang="en-US" sz="1400" dirty="0"/>
          </a:p>
        </p:txBody>
      </p:sp>
      <p:sp>
        <p:nvSpPr>
          <p:cNvPr id="53" name="Shape 46"/>
          <p:cNvSpPr/>
          <p:nvPr/>
        </p:nvSpPr>
        <p:spPr>
          <a:xfrm>
            <a:off x="6355080" y="3639312"/>
            <a:ext cx="1965960" cy="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7"/>
          <p:cNvSpPr/>
          <p:nvPr/>
        </p:nvSpPr>
        <p:spPr>
          <a:xfrm>
            <a:off x="6126480" y="373075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question,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choose the visual.</a:t>
            </a:r>
            <a:endParaRPr lang="en-US" sz="1200" dirty="0"/>
          </a:p>
        </p:txBody>
      </p:sp>
      <p:sp>
        <p:nvSpPr>
          <p:cNvPr id="55" name="Text 48"/>
          <p:cNvSpPr/>
          <p:nvPr/>
        </p:nvSpPr>
        <p:spPr>
          <a:xfrm>
            <a:off x="6126480" y="43342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the other way around.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Digital Inequity in New Jersey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visualization to a real-world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502920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64008" cy="3703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316736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DATASET FOCUS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664208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will explore: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048256"/>
            <a:ext cx="365760" cy="3657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42416" y="1993392"/>
            <a:ext cx="4187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Broadband access disparities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560320"/>
            <a:ext cx="4626864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6928" y="2706624"/>
            <a:ext cx="365760" cy="3657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42416" y="2651760"/>
            <a:ext cx="4187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and internet access relationships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218688"/>
            <a:ext cx="4626864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66928" y="3364992"/>
            <a:ext cx="365760" cy="3657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42416" y="3310128"/>
            <a:ext cx="4187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Community-level differences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3877056"/>
            <a:ext cx="4626864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6928" y="4023360"/>
            <a:ext cx="365760" cy="3657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42416" y="3968496"/>
            <a:ext cx="4187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associated with digital inequity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77840" y="1170432"/>
            <a:ext cx="3200400" cy="370332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77840" y="1170432"/>
            <a:ext cx="32004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77840" y="13350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06440" y="1764792"/>
            <a:ext cx="2743200" cy="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06440" y="1828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inequity affects: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06440" y="2221992"/>
            <a:ext cx="2743200" cy="530352"/>
          </a:xfrm>
          <a:prstGeom prst="roundRect">
            <a:avLst>
              <a:gd name="adj" fmla="val 12069"/>
            </a:avLst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897880" y="2304288"/>
            <a:ext cx="365760" cy="3657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897880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45936" y="2295144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06440" y="2880360"/>
            <a:ext cx="2743200" cy="530352"/>
          </a:xfrm>
          <a:prstGeom prst="roundRect">
            <a:avLst>
              <a:gd name="adj" fmla="val 12069"/>
            </a:avLst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897880" y="2962656"/>
            <a:ext cx="365760" cy="3657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89788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45936" y="295351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806440" y="3538728"/>
            <a:ext cx="2743200" cy="530352"/>
          </a:xfrm>
          <a:prstGeom prst="roundRect">
            <a:avLst>
              <a:gd name="adj" fmla="val 12069"/>
            </a:avLst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897880" y="3621024"/>
            <a:ext cx="365760" cy="3657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897880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45936" y="361188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806440" y="4197096"/>
            <a:ext cx="2743200" cy="530352"/>
          </a:xfrm>
          <a:prstGeom prst="roundRect">
            <a:avLst>
              <a:gd name="adj" fmla="val 12069"/>
            </a:avLst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897880" y="4279392"/>
            <a:ext cx="365760" cy="3657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89788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45936" y="427024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Opportunity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collaborative notebook exercise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502920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64008" cy="3703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307592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ACTIVITIES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1755648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755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171907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review the dataset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2267712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267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2231136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missing values and outliers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779776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779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274320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placeholder codes such as 666666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3291840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" y="325526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poor visualizations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3803904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3803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" y="376732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annotated charts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4315968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4315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5568" y="427939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and communicate insights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577840" y="1170432"/>
            <a:ext cx="3200400" cy="370332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577840" y="1170432"/>
            <a:ext cx="32004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77840" y="13350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06440" y="1764792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0" y="18196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0" y="20939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charting library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06440" y="2532888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0" y="2587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0" y="2862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visualizations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06440" y="3300984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3600" y="3355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43600" y="3630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06440" y="406908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943600" y="41239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943600" y="4398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notebook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Visualization to Storytelling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are the start, not the 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64008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" y="1417320"/>
            <a:ext cx="420624" cy="42062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60704" y="1261872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chart reveal?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170432"/>
            <a:ext cx="6400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64608" y="1417320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64608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04104" y="1261872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pattern matter?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" y="2267712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267712"/>
            <a:ext cx="6400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21208" y="2514600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60704" y="2359152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action could result?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709160" y="2267712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2267712"/>
            <a:ext cx="64008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64608" y="2514600"/>
            <a:ext cx="420624" cy="42062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64608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04104" y="2359152"/>
            <a:ext cx="3273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additional information would help?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65760" y="3493008"/>
            <a:ext cx="8412480" cy="1325880"/>
          </a:xfrm>
          <a:prstGeom prst="rect">
            <a:avLst/>
          </a:prstGeom>
          <a:solidFill>
            <a:srgbClr val="0F1B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584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3931920"/>
            <a:ext cx="7863840" cy="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402336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analysis includes both visuals and interpretation.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Best Practices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clear, effective charts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148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64008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" y="1508760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42416" y="1243584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Simple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42416" y="1572768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should be immediately readable. Remove anything that doesn't add meaning.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170432"/>
            <a:ext cx="41148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1170432"/>
            <a:ext cx="64008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64608" y="1508760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64608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85816" y="1243584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Titles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85816" y="1572768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title to state the insight, not just describe the data.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468880"/>
            <a:ext cx="41148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468880"/>
            <a:ext cx="64008" cy="11155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1208" y="2807208"/>
            <a:ext cx="420624" cy="42062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42416" y="2542032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Findings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42416" y="2871216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color or annotation to draw the reader's eye to what matters.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468880"/>
            <a:ext cx="41148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2468880"/>
            <a:ext cx="64008" cy="11155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64608" y="2807208"/>
            <a:ext cx="420624" cy="42062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85816" y="2542032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Clutter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85816" y="2871216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gridlines, fewer colors, and less decoration improve readability.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767328"/>
            <a:ext cx="41148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5760" y="3767328"/>
            <a:ext cx="64008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21208" y="4105656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1208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42416" y="3840480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Audience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42416" y="4169664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Decision-makers need clarity; technical peers may want more detail.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3767328"/>
            <a:ext cx="41148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09160" y="3767328"/>
            <a:ext cx="64008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64608" y="4105656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64608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85816" y="3840480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Context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85816" y="4169664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key data points and include a brief interpretive note.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Makeover: Before and After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 -- two very different messages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02336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64008" cy="260604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" y="1353312"/>
            <a:ext cx="457200" cy="457200"/>
          </a:xfrm>
          <a:prstGeom prst="ellipse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" y="13533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64792"/>
            <a:ext cx="3749040" cy="18745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754880" y="1170432"/>
            <a:ext cx="402336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170432"/>
            <a:ext cx="64008" cy="2606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910328" y="1353312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10328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68112" y="13533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764792"/>
            <a:ext cx="3749040" cy="18745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70832" y="2331720"/>
            <a:ext cx="402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365760" y="3913632"/>
            <a:ext cx="8412480" cy="960120"/>
          </a:xfrm>
          <a:prstGeom prst="rect">
            <a:avLst/>
          </a:prstGeom>
          <a:solidFill>
            <a:srgbClr val="0F1B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48640" y="4005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IMPROVED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468880" y="3968496"/>
            <a:ext cx="0" cy="850392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2633472" y="4206240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2633472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017520" y="4187952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title states the finding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142232" y="4206240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142232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526280" y="4187952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scale (60-82%) shows real variation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5650992" y="4206240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5650992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035040" y="4187952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bars reveal patterns at a glance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7159752" y="4206240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7159752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543800" y="4187952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colour + gold highlight removes distraction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2296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8275320" cy="713232"/>
          </a:xfrm>
          <a:prstGeom prst="rect">
            <a:avLst/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16152" y="1225296"/>
            <a:ext cx="0" cy="45720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1097280"/>
            <a:ext cx="7269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supports communication and understanding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8275320" cy="713232"/>
          </a:xfrm>
          <a:prstGeom prst="rect">
            <a:avLst/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965960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16152" y="2093976"/>
            <a:ext cx="0" cy="45720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0" y="1965960"/>
            <a:ext cx="7269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datasets contain imperfections that must be managed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8275320" cy="713232"/>
          </a:xfrm>
          <a:prstGeom prst="rect">
            <a:avLst/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834640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16152" y="2962656"/>
            <a:ext cx="0" cy="45720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71600" y="2834640"/>
            <a:ext cx="7269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visuals improve decision-making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3703320"/>
            <a:ext cx="8275320" cy="713232"/>
          </a:xfrm>
          <a:prstGeom prst="rect">
            <a:avLst/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703320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16152" y="3831336"/>
            <a:ext cx="0" cy="45720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71600" y="3703320"/>
            <a:ext cx="7269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is a critical analytical skill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828032"/>
            <a:ext cx="84124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for Decision Makers  |  Applied Data Science Workshop Series  |  Week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790</Words>
  <Application>Microsoft Office PowerPoint</Application>
  <PresentationFormat>On-screen Show (16:9)</PresentationFormat>
  <Paragraphs>225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for Decision Makers — Session 3</dc:title>
  <dc:subject>Applied Data Science Workshop Series</dc:subject>
  <dc:creator>Kelly Ann Campbell</dc:creator>
  <cp:lastModifiedBy>TERRIANN GRANT</cp:lastModifiedBy>
  <cp:revision>1</cp:revision>
  <dcterms:created xsi:type="dcterms:W3CDTF">2026-05-21T23:53:51Z</dcterms:created>
  <dcterms:modified xsi:type="dcterms:W3CDTF">2026-05-28T05:12:03Z</dcterms:modified>
</cp:coreProperties>
</file>